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solidFill>
                  <a:srgbClr val="212529"/>
                </a:solidFill>
              </a:defRPr>
            </a:pPr>
            <a:r>
              <a:t>Questions by Topic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228BE6"/>
            </a:solidFill>
          </c:spPr>
          <c:cat>
            <c:strRef>
              <c:f>Sheet1!$A$2:$A$6</c:f>
              <c:strCache>
                <c:ptCount val="5"/>
                <c:pt idx="0">
                  <c:v>Sys Design</c:v>
                </c:pt>
                <c:pt idx="1">
                  <c:v>Algorithms</c:v>
                </c:pt>
                <c:pt idx="2">
                  <c:v>Data Struct</c:v>
                </c:pt>
                <c:pt idx="3">
                  <c:v>OOP</c:v>
                </c:pt>
                <c:pt idx="4">
                  <c:v>Databases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85</c:v>
                </c:pt>
                <c:pt idx="1">
                  <c:v>70</c:v>
                </c:pt>
                <c:pt idx="2">
                  <c:v>65</c:v>
                </c:pt>
                <c:pt idx="3">
                  <c:v>50</c:v>
                </c:pt>
                <c:pt idx="4">
                  <c:v>45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228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91440" wrap="square"/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The Problem — India's Employment Crisis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CCDDFF"/>
                </a:solidFill>
                <a:latin typeface="Segoe UI"/>
              </a:defRPr>
            </a:pPr>
            <a:r>
              <a:t>PS 01: Next-Gen Generative AI  |  Hack DTU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43000"/>
            <a:ext cx="25603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37160" wrap="square"/>
          <a:lstStyle/>
          <a:p>
            <a:pPr algn="ctr">
              <a:defRPr sz="3200" b="1">
                <a:solidFill>
                  <a:srgbClr val="F5365C"/>
                </a:solidFill>
                <a:latin typeface="Segoe UI"/>
              </a:defRPr>
            </a:pPr>
            <a:r>
              <a:t>1.5M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495057"/>
                </a:solidFill>
                <a:latin typeface="Segoe UI"/>
              </a:defRPr>
            </a:pPr>
            <a:r>
              <a:t>Engg graduates/year</a:t>
            </a:r>
            <a:br/>
            <a:r>
              <a:t>(only 10% get jobs)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91840" y="1143000"/>
            <a:ext cx="25603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37160" wrap="square"/>
          <a:lstStyle/>
          <a:p>
            <a:pPr algn="ctr">
              <a:defRPr sz="3200" b="1">
                <a:solidFill>
                  <a:srgbClr val="FB6D40"/>
                </a:solidFill>
                <a:latin typeface="Segoe UI"/>
              </a:defRPr>
            </a:pPr>
            <a:r>
              <a:t>83%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495057"/>
                </a:solidFill>
                <a:latin typeface="Segoe UI"/>
              </a:defRPr>
            </a:pPr>
            <a:r>
              <a:t>Still unemployed</a:t>
            </a:r>
            <a:br/>
            <a:r>
              <a:t>after graduating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143000"/>
            <a:ext cx="25603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37160" wrap="square"/>
          <a:lstStyle/>
          <a:p>
            <a:pPr algn="ctr">
              <a:defRPr sz="3200" b="1">
                <a:solidFill>
                  <a:srgbClr val="228BE6"/>
                </a:solidFill>
                <a:latin typeface="Segoe UI"/>
              </a:defRPr>
            </a:pPr>
            <a:r>
              <a:t>82%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495057"/>
                </a:solidFill>
                <a:latin typeface="Segoe UI"/>
              </a:defRPr>
            </a:pPr>
            <a:r>
              <a:t>Employers report</a:t>
            </a:r>
            <a:br/>
            <a:r>
              <a:t>skill mismatch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1143000"/>
            <a:ext cx="25603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37160" wrap="square"/>
          <a:lstStyle/>
          <a:p>
            <a:pPr algn="ctr">
              <a:defRPr sz="3200" b="1">
                <a:solidFill>
                  <a:srgbClr val="6F42C1"/>
                </a:solidFill>
                <a:latin typeface="Segoe UI"/>
              </a:defRPr>
            </a:pPr>
            <a:r>
              <a:t>88%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495057"/>
                </a:solidFill>
                <a:latin typeface="Segoe UI"/>
              </a:defRPr>
            </a:pPr>
            <a:r>
              <a:t>ATS rejects qualified</a:t>
            </a:r>
            <a:br/>
            <a:r>
              <a:t>talent (HBS 2021)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11247120" cy="365760"/>
          </a:xfrm>
          <a:prstGeom prst="roundRect">
            <a:avLst/>
          </a:prstGeom>
          <a:solidFill>
            <a:srgbClr val="228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  4 Gaps No Platform Solves Together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154680"/>
            <a:ext cx="2560320" cy="1051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3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73152" wrap="square"/>
          <a:lstStyle/>
          <a:p>
            <a:pPr algn="ctr">
              <a:defRPr sz="1300" b="1">
                <a:solidFill>
                  <a:srgbClr val="F5365C"/>
                </a:solidFill>
                <a:latin typeface="Segoe UI"/>
              </a:defRPr>
            </a:pPr>
            <a:r>
              <a:t>ACCESS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000" b="0">
                <a:solidFill>
                  <a:srgbClr val="495057"/>
                </a:solidFill>
                <a:latin typeface="Segoe UI"/>
              </a:defRPr>
            </a:pPr>
            <a:r>
              <a:t>Coaching costs Rs 5K-50K/session.</a:t>
            </a:r>
            <a:br/>
            <a:r>
              <a:t>80% students can't afford 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3154680"/>
            <a:ext cx="2560320" cy="1051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B6D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73152" wrap="square"/>
          <a:lstStyle/>
          <a:p>
            <a:pPr algn="ctr">
              <a:defRPr sz="1300" b="1">
                <a:solidFill>
                  <a:srgbClr val="FB6D40"/>
                </a:solidFill>
                <a:latin typeface="Segoe UI"/>
              </a:defRPr>
            </a:pPr>
            <a:r>
              <a:t>FEEDBACK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000" b="0">
                <a:solidFill>
                  <a:srgbClr val="495057"/>
                </a:solidFill>
                <a:latin typeface="Segoe UI"/>
              </a:defRPr>
            </a:pPr>
            <a:r>
              <a:t>Students fail interviews but</a:t>
            </a:r>
            <a:br/>
            <a:r>
              <a:t>never learn WHY.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154680"/>
            <a:ext cx="2560320" cy="1051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28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73152" wrap="square"/>
          <a:lstStyle/>
          <a:p>
            <a:pPr algn="ctr">
              <a:defRPr sz="1300" b="1">
                <a:solidFill>
                  <a:srgbClr val="228BE6"/>
                </a:solidFill>
                <a:latin typeface="Segoe UI"/>
              </a:defRPr>
            </a:pPr>
            <a:r>
              <a:t>MATCHING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000" b="0">
                <a:solidFill>
                  <a:srgbClr val="495057"/>
                </a:solidFill>
                <a:latin typeface="Segoe UI"/>
              </a:defRPr>
            </a:pPr>
            <a:r>
              <a:t>Resumes sent blindly.</a:t>
            </a:r>
            <a:br/>
            <a:r>
              <a:t>Keyword ATS misses talent.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3154680"/>
            <a:ext cx="2560320" cy="1051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F42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73152" wrap="square"/>
          <a:lstStyle/>
          <a:p>
            <a:pPr algn="ctr">
              <a:defRPr sz="1300" b="1">
                <a:solidFill>
                  <a:srgbClr val="6F42C1"/>
                </a:solidFill>
                <a:latin typeface="Segoe UI"/>
              </a:defRPr>
            </a:pPr>
            <a:r>
              <a:t>LANGUAGE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000" b="0">
                <a:solidFill>
                  <a:srgbClr val="495057"/>
                </a:solidFill>
                <a:latin typeface="Segoe UI"/>
              </a:defRPr>
            </a:pPr>
            <a:r>
              <a:t>English-only platforms.</a:t>
            </a:r>
            <a:br/>
            <a:r>
              <a:t>60% of India excluded.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434840"/>
            <a:ext cx="11247120" cy="365760"/>
          </a:xfrm>
          <a:prstGeom prst="roundRect">
            <a:avLst/>
          </a:prstGeom>
          <a:solidFill>
            <a:srgbClr val="1B4D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  SDG Alignment + Problem Statement Mapping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57200" y="4892040"/>
          <a:ext cx="112471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4114800"/>
                <a:gridCol w="2560320"/>
              </a:tblGrid>
              <a:tr h="4114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SDG Goal</a:t>
                      </a:r>
                    </a:p>
                  </a:txBody>
                  <a:tcPr marL="73152" marR="73152" marT="36576" marB="36576">
                    <a:solidFill>
                      <a:srgbClr val="1B4D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PS Mandate</a:t>
                      </a:r>
                    </a:p>
                  </a:txBody>
                  <a:tcPr marL="73152" marR="73152" marT="36576" marB="36576">
                    <a:solidFill>
                      <a:srgbClr val="1B4D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Our Feature</a:t>
                      </a:r>
                    </a:p>
                  </a:txBody>
                  <a:tcPr marL="73152" marR="73152" marT="36576" marB="36576">
                    <a:solidFill>
                      <a:srgbClr val="1B4D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Impact</a:t>
                      </a:r>
                    </a:p>
                  </a:txBody>
                  <a:tcPr marL="73152" marR="73152" marT="36576" marB="36576">
                    <a:solidFill>
                      <a:srgbClr val="1B4D3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SDG 4: Quality Education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Democratize education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AI Mock Interview (Rs 0) + 237 free govt courses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2000x cheaper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SDG 8: Decent Work</a:t>
                      </a:r>
                    </a:p>
                  </a:txBody>
                  <a:tcPr marL="73152" marR="73152" marT="36576" marB="36576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Automate workflows</a:t>
                      </a:r>
                    </a:p>
                  </a:txBody>
                  <a:tcPr marL="73152" marR="73152" marT="36576" marB="36576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Semantic matching (&lt;100ms) + auto-scored feedback</a:t>
                      </a:r>
                    </a:p>
                  </a:txBody>
                  <a:tcPr marL="73152" marR="73152" marT="36576" marB="36576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88% hidden talent found</a:t>
                      </a:r>
                    </a:p>
                  </a:txBody>
                  <a:tcPr marL="73152" marR="73152" marT="36576" marB="36576">
                    <a:solidFill>
                      <a:srgbClr val="F1F3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SDG 10: Reduced Inequalities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Bridge language barriers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Voice interviews in Hindi/Marathi/English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60% more India covered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228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91440" wrap="square"/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Tech Architecture — 6 AI Systems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CCDDFF"/>
                </a:solidFill>
                <a:latin typeface="Segoe UI"/>
              </a:defRPr>
            </a:pPr>
            <a:r>
              <a:t>Full-stack: React + Express + MongoDB + 3 AI microservices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5029200" cy="1371600"/>
          </a:xfrm>
          <a:prstGeom prst="roundRect">
            <a:avLst/>
          </a:prstGeom>
          <a:solidFill>
            <a:srgbClr val="DBEAFE"/>
          </a:solidFill>
          <a:ln w="25400">
            <a:solidFill>
              <a:srgbClr val="228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 wrap="square"/>
          <a:lstStyle/>
          <a:p>
            <a:pPr algn="l">
              <a:defRPr sz="1400" b="1">
                <a:solidFill>
                  <a:srgbClr val="228BE6"/>
                </a:solidFill>
                <a:latin typeface="Segoe UI"/>
              </a:defRPr>
            </a:pPr>
            <a:r>
              <a:t>FRONTEND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000" b="0">
                <a:solidFill>
                  <a:srgbClr val="495057"/>
                </a:solidFill>
                <a:latin typeface="Segoe UI"/>
              </a:defRPr>
            </a:pPr>
            <a:r>
              <a:t>React 18  ·  TypeScript  ·  Vite  ·  TailwindCSS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000" b="0">
                <a:solidFill>
                  <a:srgbClr val="495057"/>
                </a:solidFill>
                <a:latin typeface="Segoe UI"/>
              </a:defRPr>
            </a:pPr>
            <a:r>
              <a:t>shadcn/ui  ·  i18next (EN/HI/MR)  ·  Socket.IO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000" b="0">
                <a:solidFill>
                  <a:srgbClr val="495057"/>
                </a:solidFill>
                <a:latin typeface="Segoe UI"/>
              </a:defRPr>
            </a:pPr>
            <a:r>
              <a:t>face-api.js (proctoring)  ·  pdfjs-dist (resume)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000" b="1">
                <a:solidFill>
                  <a:srgbClr val="228BE6"/>
                </a:solidFill>
                <a:latin typeface="Segoe UI"/>
              </a:defRPr>
            </a:pPr>
            <a:r>
              <a:t>28,680 LOC  ·  124 components  ·  1,162 translation keys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286000" y="2606040"/>
            <a:ext cx="731520" cy="274320"/>
          </a:xfrm>
          <a:prstGeom prst="rightArrow">
            <a:avLst/>
          </a:prstGeom>
          <a:solidFill>
            <a:srgbClr val="228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2971800"/>
            <a:ext cx="5029200" cy="1188720"/>
          </a:xfrm>
          <a:prstGeom prst="roundRect">
            <a:avLst/>
          </a:prstGeom>
          <a:solidFill>
            <a:srgbClr val="D1FAE5"/>
          </a:solidFill>
          <a:ln w="25400">
            <a:solidFill>
              <a:srgbClr val="2DC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 wrap="square"/>
          <a:lstStyle/>
          <a:p>
            <a:pPr algn="l">
              <a:defRPr sz="1400" b="1">
                <a:solidFill>
                  <a:srgbClr val="0B6E4F"/>
                </a:solidFill>
                <a:latin typeface="Segoe UI"/>
              </a:defRPr>
            </a:pPr>
            <a:r>
              <a:t>BACKEND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000" b="0">
                <a:solidFill>
                  <a:srgbClr val="495057"/>
                </a:solidFill>
                <a:latin typeface="Segoe UI"/>
              </a:defRPr>
            </a:pPr>
            <a:r>
              <a:t>Express.js  ·  TypeScript  ·  MongoDB Atlas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000" b="0">
                <a:solidFill>
                  <a:srgbClr val="495057"/>
                </a:solidFill>
                <a:latin typeface="Segoe UI"/>
              </a:defRPr>
            </a:pPr>
            <a:r>
              <a:t>Firebase Auth  ·  Rate Limiting  ·  43 endpoints  ·  8 collections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343400"/>
            <a:ext cx="1645920" cy="1188720"/>
          </a:xfrm>
          <a:prstGeom prst="roundRect">
            <a:avLst/>
          </a:prstGeom>
          <a:solidFill>
            <a:srgbClr val="228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Ollama</a:t>
            </a:r>
            <a:br/>
            <a:r>
              <a:t>Gemma3 4B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DDEEFF"/>
                </a:solidFill>
                <a:latin typeface="Segoe UI"/>
              </a:defRPr>
            </a:pPr>
            <a:r>
              <a:t>Local LLM</a:t>
            </a:r>
            <a:br/>
            <a:r>
              <a:t>Interview Q&amp;A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4343400"/>
            <a:ext cx="1645920" cy="1188720"/>
          </a:xfrm>
          <a:prstGeom prst="roundRect">
            <a:avLst/>
          </a:prstGeom>
          <a:solidFill>
            <a:srgbClr val="2DC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Gemini API</a:t>
            </a:r>
            <a:br/>
            <a:r>
              <a:t>768-dim vectors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DDEEFF"/>
                </a:solidFill>
                <a:latin typeface="Segoe UI"/>
              </a:defRPr>
            </a:pPr>
            <a:r>
              <a:t>Cloud</a:t>
            </a:r>
            <a:br/>
            <a:r>
              <a:t>Job Matching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4343400"/>
            <a:ext cx="1645920" cy="1188720"/>
          </a:xfrm>
          <a:prstGeom prst="round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Python Flask</a:t>
            </a:r>
            <a:br/>
            <a:r>
              <a:t>STT :5200 / TTS :5100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DDEEFF"/>
                </a:solidFill>
                <a:latin typeface="Segoe UI"/>
              </a:defRPr>
            </a:pPr>
            <a:r>
              <a:t>Whisper + Edge TTS</a:t>
            </a:r>
            <a:br/>
            <a:r>
              <a:t>Voice Pipeline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005840" y="4160520"/>
            <a:ext cx="457200" cy="182880"/>
          </a:xfrm>
          <a:prstGeom prst="rightArrow">
            <a:avLst/>
          </a:prstGeom>
          <a:solidFill>
            <a:srgbClr val="495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2834640" y="4160520"/>
            <a:ext cx="457200" cy="182880"/>
          </a:xfrm>
          <a:prstGeom prst="rightArrow">
            <a:avLst/>
          </a:prstGeom>
          <a:solidFill>
            <a:srgbClr val="495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4663440" y="4160520"/>
            <a:ext cx="457200" cy="182880"/>
          </a:xfrm>
          <a:prstGeom prst="rightArrow">
            <a:avLst/>
          </a:prstGeom>
          <a:solidFill>
            <a:srgbClr val="495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852160" y="1188720"/>
          <a:ext cx="5943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1371600"/>
                <a:gridCol w="822960"/>
                <a:gridCol w="914400"/>
                <a:gridCol w="2468880"/>
              </a:tblGrid>
              <a:tr h="58782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#</a:t>
                      </a:r>
                    </a:p>
                  </a:txBody>
                  <a:tcPr marL="73152" marR="73152" marT="36576" marB="36576">
                    <a:solidFill>
                      <a:srgbClr val="228B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AI System</a:t>
                      </a:r>
                    </a:p>
                  </a:txBody>
                  <a:tcPr marL="73152" marR="73152" marT="36576" marB="36576">
                    <a:solidFill>
                      <a:srgbClr val="228B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Size</a:t>
                      </a:r>
                    </a:p>
                  </a:txBody>
                  <a:tcPr marL="73152" marR="73152" marT="36576" marB="36576">
                    <a:solidFill>
                      <a:srgbClr val="228B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Where</a:t>
                      </a:r>
                    </a:p>
                  </a:txBody>
                  <a:tcPr marL="73152" marR="73152" marT="36576" marB="36576">
                    <a:solidFill>
                      <a:srgbClr val="228B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What It Does</a:t>
                      </a:r>
                    </a:p>
                  </a:txBody>
                  <a:tcPr marL="73152" marR="73152" marT="36576" marB="36576">
                    <a:solidFill>
                      <a:srgbClr val="228BE6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Gemma3 4B (Ollama)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4.3B params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Local GPU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Interview conversation, question gen, feedback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2</a:t>
                      </a:r>
                    </a:p>
                  </a:txBody>
                  <a:tcPr marL="73152" marR="73152" marT="36576" marB="36576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Gemini embedding-001</a:t>
                      </a:r>
                    </a:p>
                  </a:txBody>
                  <a:tcPr marL="73152" marR="73152" marT="36576" marB="36576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768-dim</a:t>
                      </a:r>
                    </a:p>
                  </a:txBody>
                  <a:tcPr marL="73152" marR="73152" marT="36576" marB="36576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Google Cloud</a:t>
                      </a:r>
                    </a:p>
                  </a:txBody>
                  <a:tcPr marL="73152" marR="73152" marT="36576" marB="36576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Semantic vectors for job matching</a:t>
                      </a:r>
                    </a:p>
                  </a:txBody>
                  <a:tcPr marL="73152" marR="73152" marT="36576" marB="36576">
                    <a:solidFill>
                      <a:srgbClr val="F1F3F5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Whisper medium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~500M INT8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Local CPU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Speech-to-text (EN/HI/MR + 7 more)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4</a:t>
                      </a:r>
                    </a:p>
                  </a:txBody>
                  <a:tcPr marL="73152" marR="73152" marT="36576" marB="36576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Edge TTS (Microsoft)</a:t>
                      </a:r>
                    </a:p>
                  </a:txBody>
                  <a:tcPr marL="73152" marR="73152" marT="36576" marB="36576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Neural voices</a:t>
                      </a:r>
                    </a:p>
                  </a:txBody>
                  <a:tcPr marL="73152" marR="73152" marT="36576" marB="36576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Cloud</a:t>
                      </a:r>
                    </a:p>
                  </a:txBody>
                  <a:tcPr marL="73152" marR="73152" marT="36576" marB="36576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Text-to-speech (3 Indian voices)</a:t>
                      </a:r>
                    </a:p>
                  </a:txBody>
                  <a:tcPr marL="73152" marR="73152" marT="36576" marB="36576">
                    <a:solidFill>
                      <a:srgbClr val="F1F3F5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face-api.js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892 KB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Browser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Face detection + gaze + proctoring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6</a:t>
                      </a:r>
                    </a:p>
                  </a:txBody>
                  <a:tcPr marL="73152" marR="73152" marT="36576" marB="36576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GPT-4o (OnDemand)</a:t>
                      </a:r>
                    </a:p>
                  </a:txBody>
                  <a:tcPr marL="73152" marR="73152" marT="36576" marB="36576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Cloud</a:t>
                      </a:r>
                    </a:p>
                  </a:txBody>
                  <a:tcPr marL="73152" marR="73152" marT="36576" marB="36576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Cloud API</a:t>
                      </a:r>
                    </a:p>
                  </a:txBody>
                  <a:tcPr marL="73152" marR="73152" marT="36576" marB="36576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Resume parsing + skill gap explanation</a:t>
                      </a:r>
                    </a:p>
                  </a:txBody>
                  <a:tcPr marL="73152" marR="73152" marT="36576" marB="36576">
                    <a:solidFill>
                      <a:srgbClr val="F1F3F5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5852160" y="5486400"/>
            <a:ext cx="5943600" cy="457200"/>
          </a:xfrm>
          <a:prstGeom prst="roundRect">
            <a:avLst/>
          </a:prstGeom>
          <a:solidFill>
            <a:srgbClr val="228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  6 AI models  ·  3 languages  ·  &lt;5s voice response  ·  1 unified pipeline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228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91440" wrap="square"/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Feature A — Resume to Job Recommendations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CCDDFF"/>
                </a:solidFill>
                <a:latin typeface="Segoe UI"/>
              </a:defRPr>
            </a:pPr>
            <a:r>
              <a:t>STAR: Situation  →  Task  →  Action  →  Result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97280"/>
            <a:ext cx="5486400" cy="1005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3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73152" wrap="square"/>
          <a:lstStyle/>
          <a:p>
            <a:pPr algn="l">
              <a:defRPr sz="1200" b="1">
                <a:solidFill>
                  <a:srgbClr val="F5365C"/>
                </a:solidFill>
                <a:latin typeface="Segoe UI"/>
              </a:defRPr>
            </a:pPr>
            <a:r>
              <a:t>SITUATION + TASK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000" b="0">
                <a:solidFill>
                  <a:srgbClr val="495057"/>
                </a:solidFill>
                <a:latin typeface="Segoe UI"/>
              </a:defRPr>
            </a:pPr>
            <a:r>
              <a:t>88% of employers say ATS rejects qualified talent due to keyword mismatch (Harvard, 2021).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000" b="0">
                <a:solidFill>
                  <a:srgbClr val="495057"/>
                </a:solidFill>
                <a:latin typeface="Segoe UI"/>
              </a:defRPr>
            </a:pPr>
            <a:r>
              <a:t>Task: PDF upload → structured profile → semantic job match with explainable scores.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2240280"/>
            <a:ext cx="1097280" cy="320040"/>
          </a:xfrm>
          <a:prstGeom prst="roundRect">
            <a:avLst/>
          </a:prstGeom>
          <a:solidFill>
            <a:srgbClr val="FB6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  ACTION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651760"/>
            <a:ext cx="1920240" cy="914400"/>
          </a:xfrm>
          <a:prstGeom prst="roundRect">
            <a:avLst/>
          </a:prstGeom>
          <a:solidFill>
            <a:srgbClr val="33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PDF.js</a:t>
            </a:r>
            <a:br/>
            <a:r>
              <a:t>Extract Text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DDEEFF"/>
                </a:solidFill>
                <a:latin typeface="Segoe UI"/>
              </a:defRPr>
            </a:pPr>
            <a:r>
              <a:t>~0.5s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331720" y="2971800"/>
            <a:ext cx="320040" cy="182880"/>
          </a:xfrm>
          <a:prstGeom prst="rightArrow">
            <a:avLst/>
          </a:prstGeom>
          <a:solidFill>
            <a:srgbClr val="33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697479" y="2651760"/>
            <a:ext cx="1920240" cy="914400"/>
          </a:xfrm>
          <a:prstGeom prst="roundRect">
            <a:avLst/>
          </a:prstGeom>
          <a:solidFill>
            <a:srgbClr val="66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Regex + GPT-4o</a:t>
            </a:r>
            <a:br/>
            <a:r>
              <a:t>Hybrid Parse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DDEEFF"/>
                </a:solidFill>
                <a:latin typeface="Segoe UI"/>
              </a:defRPr>
            </a:pPr>
            <a:r>
              <a:t>~2.5s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663439" y="2971800"/>
            <a:ext cx="320040" cy="182880"/>
          </a:xfrm>
          <a:prstGeom prst="rightArrow">
            <a:avLst/>
          </a:prstGeom>
          <a:solidFill>
            <a:srgbClr val="66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0" y="2651760"/>
            <a:ext cx="1920240" cy="914400"/>
          </a:xfrm>
          <a:prstGeom prst="roundRect">
            <a:avLst/>
          </a:prstGeom>
          <a:solidFill>
            <a:srgbClr val="2DC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Gemini</a:t>
            </a:r>
            <a:br/>
            <a:r>
              <a:t>768-dim x3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DDEEFF"/>
                </a:solidFill>
                <a:latin typeface="Segoe UI"/>
              </a:defRPr>
            </a:pPr>
            <a:r>
              <a:t>~1s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995160" y="2971800"/>
            <a:ext cx="320040" cy="182880"/>
          </a:xfrm>
          <a:prstGeom prst="rightArrow">
            <a:avLst/>
          </a:prstGeom>
          <a:solidFill>
            <a:srgbClr val="2DC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60919" y="2651760"/>
            <a:ext cx="1920240" cy="914400"/>
          </a:xfrm>
          <a:prstGeom prst="roundRect">
            <a:avLst/>
          </a:prstGeom>
          <a:solidFill>
            <a:srgbClr val="228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Atlas Vector</a:t>
            </a:r>
            <a:br/>
            <a:r>
              <a:t>Search (HNSW)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DDEEFF"/>
                </a:solidFill>
                <a:latin typeface="Segoe UI"/>
              </a:defRPr>
            </a:pPr>
            <a:r>
              <a:t>&lt;100ms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326879" y="2971800"/>
            <a:ext cx="320040" cy="182880"/>
          </a:xfrm>
          <a:prstGeom prst="rightArrow">
            <a:avLst/>
          </a:prstGeom>
          <a:solidFill>
            <a:srgbClr val="228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692640" y="2651760"/>
            <a:ext cx="1920240" cy="914400"/>
          </a:xfrm>
          <a:prstGeom prst="round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Cosine</a:t>
            </a:r>
            <a:br/>
            <a:r>
              <a:t>Rerank Top 10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DDEEFF"/>
                </a:solidFill>
                <a:latin typeface="Segoe UI"/>
              </a:defRPr>
            </a:pPr>
            <a:r>
              <a:t>&lt;10ms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3794760"/>
            <a:ext cx="5852160" cy="1920240"/>
          </a:xfrm>
          <a:prstGeom prst="roundRect">
            <a:avLst/>
          </a:prstGeom>
          <a:solidFill>
            <a:srgbClr val="F0F4FF"/>
          </a:solidFill>
          <a:ln w="25400">
            <a:solidFill>
              <a:srgbClr val="228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 wrap="square"/>
          <a:lstStyle/>
          <a:p>
            <a:pPr algn="l">
              <a:defRPr sz="1300" b="1">
                <a:solidFill>
                  <a:srgbClr val="228BE6"/>
                </a:solidFill>
                <a:latin typeface="Segoe UI"/>
              </a:defRPr>
            </a:pPr>
            <a:r>
              <a:t>Matching Formula (Research-Backed Weights)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400" b="1">
                <a:solidFill>
                  <a:srgbClr val="212529"/>
                </a:solidFill>
                <a:latin typeface="Segoe UI"/>
              </a:defRPr>
            </a:pPr>
            <a:r>
              <a:t>Match = Skills x 50%  +  Experience x 30%  +  Role Fit x 20%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212529"/>
                </a:solidFill>
                <a:latin typeface="Segoe U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000" b="0">
                <a:solidFill>
                  <a:srgbClr val="495057"/>
                </a:solidFill>
                <a:latin typeface="Segoe UI"/>
              </a:defRPr>
            </a:pPr>
            <a:r>
              <a:t>Skills (r=0.54)      → 0.54/1.07 ≈ 50%   — Schmidt &amp; Hunter (1998)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000" b="0">
                <a:solidFill>
                  <a:srgbClr val="495057"/>
                </a:solidFill>
                <a:latin typeface="Segoe UI"/>
              </a:defRPr>
            </a:pPr>
            <a:r>
              <a:t>Experience (r=0.33)  → 0.33/1.07 ≈ 30%   — 85-year meta-analysis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000" b="0">
                <a:solidFill>
                  <a:srgbClr val="495057"/>
                </a:solidFill>
                <a:latin typeface="Segoe UI"/>
              </a:defRPr>
            </a:pPr>
            <a:r>
              <a:t>Role Fit (r=0.20)     → 0.20/1.07 ≈ 20%   — Kristof-Brown (2005)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28BE6"/>
                </a:solidFill>
                <a:latin typeface="Segoe UI"/>
              </a:defRPr>
            </a:pPr>
            <a:r>
              <a:t>Deloitte (2022): Skills-based orgs 107% more likely to place talent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3794760"/>
            <a:ext cx="5303520" cy="1920240"/>
          </a:xfrm>
          <a:prstGeom prst="roundRect">
            <a:avLst/>
          </a:prstGeom>
          <a:solidFill>
            <a:srgbClr val="E6FCF5"/>
          </a:solidFill>
          <a:ln w="25400">
            <a:solidFill>
              <a:srgbClr val="2DC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 wrap="square"/>
          <a:lstStyle/>
          <a:p>
            <a:pPr algn="l">
              <a:defRPr sz="1300" b="1">
                <a:solidFill>
                  <a:srgbClr val="0B6E4F"/>
                </a:solidFill>
                <a:latin typeface="Segoe UI"/>
              </a:defRPr>
            </a:pPr>
            <a:r>
              <a:t>RESULT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100" b="0">
                <a:solidFill>
                  <a:srgbClr val="212529"/>
                </a:solidFill>
                <a:latin typeface="Segoe UI"/>
              </a:defRPr>
            </a:pPr>
            <a:r>
              <a:t>Resume parsed in ~3 seconds (95% confidence)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212529"/>
                </a:solidFill>
                <a:latin typeface="Segoe UI"/>
              </a:defRPr>
            </a:pPr>
            <a:r>
              <a:t>Job matching in &lt;100ms (HNSW: O(log N))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212529"/>
                </a:solidFill>
                <a:latin typeface="Segoe UI"/>
              </a:defRPr>
            </a:pPr>
            <a:r>
              <a:t>Each match shows: overall %, skills %, exp %, role fit %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212529"/>
                </a:solidFill>
                <a:latin typeface="Segoe UI"/>
              </a:defRPr>
            </a:pPr>
            <a:r>
              <a:t>Employer side: same algorithm ranks candidates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0B6E4F"/>
                </a:solidFill>
                <a:latin typeface="Segoe UI"/>
              </a:defRPr>
            </a:pPr>
            <a:r>
              <a:t>Hidden talent surfaced — 88% that keyword ATS misses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1097280"/>
            <a:ext cx="5303520" cy="2468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F42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 wrap="square"/>
          <a:lstStyle/>
          <a:p>
            <a:pPr algn="l">
              <a:defRPr sz="1300" b="1">
                <a:solidFill>
                  <a:srgbClr val="6F42C1"/>
                </a:solidFill>
                <a:latin typeface="Segoe UI"/>
              </a:defRPr>
            </a:pPr>
            <a:r>
              <a:t>Why Semantic &gt; Keywords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495057"/>
                </a:solidFill>
                <a:latin typeface="Segoe UI"/>
              </a:defRPr>
            </a:pP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F5365C"/>
                </a:solidFill>
                <a:latin typeface="Segoe UI"/>
              </a:defRPr>
            </a:pPr>
            <a:r>
              <a:t>Traditional ATS (keyword):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000" b="0">
                <a:solidFill>
                  <a:srgbClr val="495057"/>
                </a:solidFill>
                <a:latin typeface="Segoe UI"/>
              </a:defRPr>
            </a:pPr>
            <a:r>
              <a:t>Job: "React"  |  Resume: "Built SPAs with React.js, Redux"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000" b="1">
                <a:solidFill>
                  <a:srgbClr val="F5365C"/>
                </a:solidFill>
                <a:latin typeface="Segoe UI"/>
              </a:defRPr>
            </a:pPr>
            <a:r>
              <a:t>Result: REJECTED (format mismatch)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495057"/>
                </a:solidFill>
                <a:latin typeface="Segoe U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1">
                <a:solidFill>
                  <a:srgbClr val="2DCE89"/>
                </a:solidFill>
                <a:latin typeface="Segoe UI"/>
              </a:defRPr>
            </a:pPr>
            <a:r>
              <a:t>YuvaSetu (semantic embedding):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000" b="0">
                <a:solidFill>
                  <a:srgbClr val="495057"/>
                </a:solidFill>
                <a:latin typeface="Segoe UI"/>
              </a:defRPr>
            </a:pPr>
            <a:r>
              <a:t>Job vector: [0.23, -0.41, 0.87, ...] (768 dims)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000" b="0">
                <a:solidFill>
                  <a:srgbClr val="495057"/>
                </a:solidFill>
                <a:latin typeface="Segoe UI"/>
              </a:defRPr>
            </a:pPr>
            <a:r>
              <a:t>Resume vector: [0.21, -0.39, 0.85, ...]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000" b="1">
                <a:solidFill>
                  <a:srgbClr val="2DCE89"/>
                </a:solidFill>
                <a:latin typeface="Segoe UI"/>
              </a:defRPr>
            </a:pPr>
            <a:r>
              <a:t>Cosine similarity: 0.94 → 94% MATCH 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228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91440" wrap="square"/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Feature B — Skill Gap Analysis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CCDDFF"/>
                </a:solidFill>
                <a:latin typeface="Segoe UI"/>
              </a:defRPr>
            </a:pPr>
            <a:r>
              <a:t>STAR: Situation  →  Task  →  Action  →  Result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97280"/>
            <a:ext cx="5669280" cy="731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3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54864" wrap="square"/>
          <a:lstStyle/>
          <a:p>
            <a:pPr algn="l">
              <a:defRPr sz="1100" b="1">
                <a:solidFill>
                  <a:srgbClr val="F5365C"/>
                </a:solidFill>
                <a:latin typeface="Segoe UI"/>
              </a:defRPr>
            </a:pPr>
            <a:r>
              <a:t>SITUATION: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000" b="0">
                <a:solidFill>
                  <a:srgbClr val="495057"/>
                </a:solidFill>
                <a:latin typeface="Segoe UI"/>
              </a:defRPr>
            </a:pPr>
            <a:r>
              <a:t>Students don't know which skills they lack. Free govt courses (NPTEL: 3,353 / SWAYAM: 11,772) exist but are scattered.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965960"/>
            <a:ext cx="914400" cy="274320"/>
          </a:xfrm>
          <a:prstGeom prst="roundRect">
            <a:avLst/>
          </a:prstGeom>
          <a:solidFill>
            <a:srgbClr val="FB6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 ACTION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377440"/>
            <a:ext cx="3474720" cy="1005840"/>
          </a:xfrm>
          <a:prstGeom prst="roundRect">
            <a:avLst/>
          </a:prstGeom>
          <a:solidFill>
            <a:srgbClr val="228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Step 1: Math Score</a:t>
            </a:r>
            <a:br/>
            <a:r>
              <a:t>(Cosine Similarity)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DDEEFF"/>
                </a:solidFill>
                <a:latin typeface="Segoe UI"/>
              </a:defRPr>
            </a:pPr>
            <a:r>
              <a:t>NOT hallucinated</a:t>
            </a:r>
            <a:br/>
            <a:r>
              <a:t>Deterministic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931920" y="2743200"/>
            <a:ext cx="365760" cy="182880"/>
          </a:xfrm>
          <a:prstGeom prst="rightArrow">
            <a:avLst/>
          </a:prstGeom>
          <a:solidFill>
            <a:srgbClr val="228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89120" y="2377440"/>
            <a:ext cx="3474720" cy="1005840"/>
          </a:xfrm>
          <a:prstGeom prst="round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Step 2: GPT-4o</a:t>
            </a:r>
            <a:br/>
            <a:r>
              <a:t>Explains the Gap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DDEEFF"/>
                </a:solidFill>
                <a:latin typeface="Segoe UI"/>
              </a:defRPr>
            </a:pPr>
            <a:r>
              <a:t>"Score is 72%.</a:t>
            </a:r>
            <a:br/>
            <a:r>
              <a:t>Missing: React, Docker"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955279" y="2743200"/>
            <a:ext cx="365760" cy="182880"/>
          </a:xfrm>
          <a:prstGeom prst="rightArrow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0" y="2377440"/>
            <a:ext cx="3383280" cy="1005840"/>
          </a:xfrm>
          <a:prstGeom prst="roundRect">
            <a:avLst/>
          </a:prstGeom>
          <a:solidFill>
            <a:srgbClr val="2DC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Step 3: Course</a:t>
            </a:r>
            <a:br/>
            <a:r>
              <a:t>Recommendation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DDEEFF"/>
                </a:solidFill>
                <a:latin typeface="Segoe UI"/>
              </a:defRPr>
            </a:pPr>
            <a:r>
              <a:t>237 govt courses</a:t>
            </a:r>
            <a:br/>
            <a:r>
              <a:t>+ Udemy fallback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3566160"/>
            <a:ext cx="11430000" cy="457200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FB6D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856D0E"/>
                </a:solidFill>
                <a:latin typeface="Segoe UI"/>
              </a:defRPr>
            </a:pPr>
            <a:r>
              <a:t>  KEY DESIGN: Score is math-computed (cosine similarity), NOT LLM-generated. AI is anchored: "The score is 72%. Explain WHY. Do NOT recalculate."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4206240"/>
          <a:ext cx="56692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731520"/>
                <a:gridCol w="2743200"/>
              </a:tblGrid>
              <a:tr h="3352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Signal</a:t>
                      </a:r>
                    </a:p>
                  </a:txBody>
                  <a:tcPr marL="73152" marR="73152" marT="36576" marB="36576">
                    <a:solidFill>
                      <a:srgbClr val="228B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Points</a:t>
                      </a:r>
                    </a:p>
                  </a:txBody>
                  <a:tcPr marL="73152" marR="73152" marT="36576" marB="36576">
                    <a:solidFill>
                      <a:srgbClr val="228B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Example</a:t>
                      </a:r>
                    </a:p>
                  </a:txBody>
                  <a:tcPr marL="73152" marR="73152" marT="36576" marB="36576">
                    <a:solidFill>
                      <a:srgbClr val="228BE6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Exact skill in course tags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+50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"Python" in skills array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Full phrase in title</a:t>
                      </a:r>
                    </a:p>
                  </a:txBody>
                  <a:tcPr marL="73152" marR="73152" marT="36576" marB="36576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+40</a:t>
                      </a:r>
                    </a:p>
                  </a:txBody>
                  <a:tcPr marL="73152" marR="73152" marT="36576" marB="36576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"Machine Learning" in title</a:t>
                      </a:r>
                    </a:p>
                  </a:txBody>
                  <a:tcPr marL="73152" marR="73152" marT="36576" marB="36576">
                    <a:solidFill>
                      <a:srgbClr val="F1F3F5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Phrase in description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+15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"SQL" in description text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Partial word match (&gt;50%)</a:t>
                      </a:r>
                    </a:p>
                  </a:txBody>
                  <a:tcPr marL="73152" marR="73152" marT="36576" marB="36576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+20</a:t>
                      </a:r>
                    </a:p>
                  </a:txBody>
                  <a:tcPr marL="73152" marR="73152" marT="36576" marB="36576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2+ words of "NLP" match</a:t>
                      </a:r>
                    </a:p>
                  </a:txBody>
                  <a:tcPr marL="73152" marR="73152" marT="36576" marB="36576">
                    <a:solidFill>
                      <a:srgbClr val="F1F3F5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Free course bonus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+2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Government courses prioritized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09360" y="4206240"/>
          <a:ext cx="54406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188720"/>
                <a:gridCol w="2240280"/>
              </a:tblGrid>
              <a:tr h="40233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Provider</a:t>
                      </a:r>
                    </a:p>
                  </a:txBody>
                  <a:tcPr marL="73152" marR="73152" marT="36576" marB="36576">
                    <a:solidFill>
                      <a:srgbClr val="2DCE8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Courses</a:t>
                      </a:r>
                    </a:p>
                  </a:txBody>
                  <a:tcPr marL="73152" marR="73152" marT="36576" marB="36576">
                    <a:solidFill>
                      <a:srgbClr val="2DCE8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National Scale</a:t>
                      </a:r>
                    </a:p>
                  </a:txBody>
                  <a:tcPr marL="73152" marR="73152" marT="36576" marB="36576">
                    <a:solidFill>
                      <a:srgbClr val="2DCE8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NPTEL (IITs + IISc)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119 scraped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Part of SWAYAM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SWAYAM (Govt of India)</a:t>
                      </a:r>
                    </a:p>
                  </a:txBody>
                  <a:tcPr marL="73152" marR="73152" marT="36576" marB="36576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111 scraped</a:t>
                      </a:r>
                    </a:p>
                  </a:txBody>
                  <a:tcPr marL="73152" marR="73152" marT="36576" marB="36576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1.21 Crore (12.1M) users</a:t>
                      </a:r>
                    </a:p>
                  </a:txBody>
                  <a:tcPr marL="73152" marR="73152" marT="36576" marB="36576">
                    <a:solidFill>
                      <a:srgbClr val="F1F3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Skill India Digital Hub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7 curated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1.5 Crore (15M) candidates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Total in DB</a:t>
                      </a:r>
                    </a:p>
                  </a:txBody>
                  <a:tcPr marL="73152" marR="73152" marT="36576" marB="36576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237</a:t>
                      </a:r>
                    </a:p>
                  </a:txBody>
                  <a:tcPr marL="73152" marR="73152" marT="36576" marB="36576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All free, govt-backed</a:t>
                      </a:r>
                    </a:p>
                  </a:txBody>
                  <a:tcPr marL="73152" marR="73152" marT="36576" marB="36576">
                    <a:solidFill>
                      <a:srgbClr val="F1F3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228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91440" wrap="square"/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Feature C — Mock Test (FAANG Questions)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CCDDFF"/>
                </a:solidFill>
                <a:latin typeface="Segoe UI"/>
              </a:defRPr>
            </a:pPr>
            <a:r>
              <a:t>STAR: Situation  →  Task  →  Action  →  Result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188720"/>
            <a:ext cx="11430000" cy="640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3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54864" wrap="square"/>
          <a:lstStyle/>
          <a:p>
            <a:pPr algn="l">
              <a:defRPr sz="1100" b="0">
                <a:solidFill>
                  <a:srgbClr val="495057"/>
                </a:solidFill>
                <a:latin typeface="Segoe UI"/>
              </a:defRPr>
            </a:pPr>
            <a:r>
              <a:t>SITUATION: Students lack structured practice material. Resources are scattered with no tracking.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495057"/>
                </a:solidFill>
                <a:latin typeface="Segoe UI"/>
              </a:defRPr>
            </a:pPr>
            <a:r>
              <a:t>TASK: Curated question bank + timed tests + progress tracking across attempts.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103120"/>
            <a:ext cx="347472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28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 wrap="square"/>
          <a:lstStyle/>
          <a:p>
            <a:pPr algn="ctr">
              <a:defRPr sz="1600" b="1">
                <a:solidFill>
                  <a:srgbClr val="228BE6"/>
                </a:solidFill>
                <a:latin typeface="Segoe UI"/>
              </a:defRPr>
            </a:pPr>
            <a:r>
              <a:t>Question Bank</a:t>
            </a:r>
          </a:p>
          <a:p>
            <a:pPr algn="ctr">
              <a:spcBef>
                <a:spcPts val="800"/>
              </a:spcBef>
              <a:spcAft>
                <a:spcPts val="200"/>
              </a:spcAft>
              <a:defRPr sz="1200" b="0">
                <a:solidFill>
                  <a:srgbClr val="495057"/>
                </a:solidFill>
                <a:latin typeface="Segoe UI"/>
              </a:defRPr>
            </a:pPr>
            <a:r>
              <a:t>300+ MCQs</a:t>
            </a:r>
            <a:br/>
            <a:r>
              <a:t>FAANG-style</a:t>
            </a:r>
            <a:br/>
            <a:r>
              <a:t>System Design</a:t>
            </a:r>
            <a:br/>
            <a:r>
              <a:t>Algorithms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977640" y="2834640"/>
            <a:ext cx="365760" cy="182880"/>
          </a:xfrm>
          <a:prstGeom prst="rightArrow">
            <a:avLst/>
          </a:prstGeom>
          <a:solidFill>
            <a:srgbClr val="228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89120" y="2103120"/>
            <a:ext cx="347472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B6D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 wrap="square"/>
          <a:lstStyle/>
          <a:p>
            <a:pPr algn="ctr">
              <a:defRPr sz="1600" b="1">
                <a:solidFill>
                  <a:srgbClr val="FB6D40"/>
                </a:solidFill>
                <a:latin typeface="Segoe UI"/>
              </a:defRPr>
            </a:pPr>
            <a:r>
              <a:t>Timed Quiz</a:t>
            </a:r>
          </a:p>
          <a:p>
            <a:pPr algn="ctr">
              <a:spcBef>
                <a:spcPts val="800"/>
              </a:spcBef>
              <a:spcAft>
                <a:spcPts val="200"/>
              </a:spcAft>
              <a:defRPr sz="1200" b="0">
                <a:solidFill>
                  <a:srgbClr val="495057"/>
                </a:solidFill>
                <a:latin typeface="Segoe UI"/>
              </a:defRPr>
            </a:pPr>
            <a:r>
              <a:t>Structured session</a:t>
            </a:r>
            <a:br/>
            <a:r>
              <a:t>Immediate scoring</a:t>
            </a:r>
            <a:br/>
            <a:r>
              <a:t>Topic breakdown</a:t>
            </a:r>
          </a:p>
        </p:txBody>
      </p:sp>
      <p:sp>
        <p:nvSpPr>
          <p:cNvPr id="7" name="Right Arrow 6"/>
          <p:cNvSpPr/>
          <p:nvPr/>
        </p:nvSpPr>
        <p:spPr>
          <a:xfrm>
            <a:off x="7909560" y="2834640"/>
            <a:ext cx="365760" cy="182880"/>
          </a:xfrm>
          <a:prstGeom prst="rightArrow">
            <a:avLst/>
          </a:prstGeom>
          <a:solidFill>
            <a:srgbClr val="FB6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321040" y="2103120"/>
            <a:ext cx="347472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DC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 wrap="square"/>
          <a:lstStyle/>
          <a:p>
            <a:pPr algn="ctr">
              <a:defRPr sz="1600" b="1">
                <a:solidFill>
                  <a:srgbClr val="2DCE89"/>
                </a:solidFill>
                <a:latin typeface="Segoe UI"/>
              </a:defRPr>
            </a:pPr>
            <a:r>
              <a:t>Performance</a:t>
            </a:r>
          </a:p>
          <a:p>
            <a:pPr algn="ctr">
              <a:spcBef>
                <a:spcPts val="800"/>
              </a:spcBef>
              <a:spcAft>
                <a:spcPts val="200"/>
              </a:spcAft>
              <a:defRPr sz="1200" b="0">
                <a:solidFill>
                  <a:srgbClr val="495057"/>
                </a:solidFill>
                <a:latin typeface="Segoe UI"/>
              </a:defRPr>
            </a:pPr>
            <a:r>
              <a:t>Score tracking</a:t>
            </a:r>
            <a:br/>
            <a:r>
              <a:t>Trend analysis</a:t>
            </a:r>
            <a:br/>
            <a:r>
              <a:t>↑ / → / ↓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57200" y="4206240"/>
          <a:ext cx="5029200" cy="2377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943600" y="4206240"/>
            <a:ext cx="5852160" cy="2377440"/>
          </a:xfrm>
          <a:prstGeom prst="roundRect">
            <a:avLst/>
          </a:prstGeom>
          <a:solidFill>
            <a:srgbClr val="E6FCF5"/>
          </a:solidFill>
          <a:ln w="25400">
            <a:solidFill>
              <a:srgbClr val="2DC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 wrap="square"/>
          <a:lstStyle/>
          <a:p>
            <a:pPr algn="l">
              <a:defRPr sz="1400" b="1">
                <a:solidFill>
                  <a:srgbClr val="0B6E4F"/>
                </a:solidFill>
                <a:latin typeface="Segoe UI"/>
              </a:defRPr>
            </a:pPr>
            <a:r>
              <a:t>RESULT</a:t>
            </a:r>
          </a:p>
          <a:p>
            <a:pPr algn="l">
              <a:spcBef>
                <a:spcPts val="1000"/>
              </a:spcBef>
              <a:spcAft>
                <a:spcPts val="200"/>
              </a:spcAft>
              <a:defRPr sz="1200" b="0">
                <a:solidFill>
                  <a:srgbClr val="212529"/>
                </a:solidFill>
                <a:latin typeface="Segoe UI"/>
              </a:defRPr>
            </a:pPr>
            <a:r>
              <a:t>300+ curated FAANG questions with answers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212529"/>
                </a:solidFill>
                <a:latin typeface="Segoe UI"/>
              </a:defRPr>
            </a:pPr>
            <a:r>
              <a:t>Timed sessions with immediate scoring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212529"/>
                </a:solidFill>
                <a:latin typeface="Segoe UI"/>
              </a:defRPr>
            </a:pPr>
            <a:r>
              <a:t>Topic-level weakness identification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212529"/>
                </a:solidFill>
                <a:latin typeface="Segoe UI"/>
              </a:defRPr>
            </a:pPr>
            <a:r>
              <a:t>Trend analysis: improving / stable / declining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200" b="1">
                <a:solidFill>
                  <a:srgbClr val="0B6E4F"/>
                </a:solidFill>
                <a:latin typeface="Segoe UI"/>
              </a:defRPr>
            </a:pPr>
            <a:r>
              <a:t>Complements voice AI interview practice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228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91440" wrap="square"/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Feature D — AI Mock Interview + Proctoring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CCDDFF"/>
                </a:solidFill>
                <a:latin typeface="Segoe UI"/>
              </a:defRPr>
            </a:pPr>
            <a:r>
              <a:t>STAR: Voice-based AI interviewer in Hindi/Marathi/English with live proctoring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97280"/>
            <a:ext cx="11430000" cy="502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3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36576" wrap="square"/>
          <a:lstStyle/>
          <a:p>
            <a:pPr algn="l">
              <a:defRPr sz="1100" b="0">
                <a:solidFill>
                  <a:srgbClr val="495057"/>
                </a:solidFill>
                <a:latin typeface="Segoe UI"/>
              </a:defRPr>
            </a:pPr>
            <a:r>
              <a:t>SITUATION: Coaching costs Rs 5K-50K. No voice AI in Indian languages. AI practice → 30% communication improvement (Forbes, 2023)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737360"/>
            <a:ext cx="1463040" cy="274320"/>
          </a:xfrm>
          <a:prstGeom prst="roundRect">
            <a:avLst/>
          </a:prstGeom>
          <a:solidFill>
            <a:srgbClr val="228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 Voice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103120"/>
            <a:ext cx="2011680" cy="822960"/>
          </a:xfrm>
          <a:prstGeom prst="round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You Speak</a:t>
            </a:r>
            <a:br/>
            <a:r>
              <a:t>PCM → WAV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DDEEFF"/>
                </a:solidFill>
                <a:latin typeface="Segoe UI"/>
              </a:defRPr>
            </a:pPr>
            <a:r>
              <a:t>~100ms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423160" y="2377440"/>
            <a:ext cx="228600" cy="164592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697479" y="2103120"/>
            <a:ext cx="2011680" cy="822960"/>
          </a:xfrm>
          <a:prstGeom prst="roundRect">
            <a:avLst/>
          </a:prstGeom>
          <a:solidFill>
            <a:srgbClr val="33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Whisper STT</a:t>
            </a:r>
            <a:br/>
            <a:r>
              <a:t>+ VAD + filter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DDEEFF"/>
                </a:solidFill>
                <a:latin typeface="Segoe UI"/>
              </a:defRPr>
            </a:pPr>
            <a:r>
              <a:t>~2s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754879" y="2377440"/>
            <a:ext cx="228600" cy="164592"/>
          </a:xfrm>
          <a:prstGeom prst="rightArrow">
            <a:avLst/>
          </a:prstGeom>
          <a:solidFill>
            <a:srgbClr val="33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0" y="2103120"/>
            <a:ext cx="2011680" cy="822960"/>
          </a:xfrm>
          <a:prstGeom prst="roundRect">
            <a:avLst/>
          </a:prstGeom>
          <a:solidFill>
            <a:srgbClr val="228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Gemma3 LLM</a:t>
            </a:r>
            <a:br/>
            <a:r>
              <a:t>1-2 sentences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DDEEFF"/>
                </a:solidFill>
                <a:latin typeface="Segoe UI"/>
              </a:defRPr>
            </a:pPr>
            <a:r>
              <a:t>~2s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086600" y="2377440"/>
            <a:ext cx="228600" cy="164592"/>
          </a:xfrm>
          <a:prstGeom prst="rightArrow">
            <a:avLst/>
          </a:prstGeom>
          <a:solidFill>
            <a:srgbClr val="228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60919" y="2103120"/>
            <a:ext cx="2011680" cy="822960"/>
          </a:xfrm>
          <a:prstGeom prst="round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Edge TTS</a:t>
            </a:r>
            <a:br/>
            <a:r>
              <a:t>parallel synth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DDEEFF"/>
                </a:solidFill>
                <a:latin typeface="Segoe UI"/>
              </a:defRPr>
            </a:pPr>
            <a:r>
              <a:t>~0.3s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418319" y="2377440"/>
            <a:ext cx="228600" cy="164592"/>
          </a:xfrm>
          <a:prstGeom prst="rightArrow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692640" y="2103120"/>
            <a:ext cx="2011680" cy="822960"/>
          </a:xfrm>
          <a:prstGeom prst="roundRect">
            <a:avLst/>
          </a:prstGeom>
          <a:solidFill>
            <a:srgbClr val="2DC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You Hear</a:t>
            </a:r>
            <a:br/>
            <a:r>
              <a:t>AI responds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DDEEFF"/>
                </a:solidFill>
                <a:latin typeface="Segoe UI"/>
              </a:defRPr>
            </a:pPr>
          </a:p>
        </p:txBody>
      </p:sp>
      <p:sp>
        <p:nvSpPr>
          <p:cNvPr id="14" name="Rounded Rectangle 13"/>
          <p:cNvSpPr/>
          <p:nvPr/>
        </p:nvSpPr>
        <p:spPr>
          <a:xfrm>
            <a:off x="365760" y="3017520"/>
            <a:ext cx="11430000" cy="320040"/>
          </a:xfrm>
          <a:prstGeom prst="round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28BE6"/>
                </a:solidFill>
                <a:latin typeface="Segoe UI"/>
              </a:defRPr>
            </a:pPr>
            <a:r>
              <a:t>  Total: ~4-5 seconds from your voice to AI's voice reply  |  10 personalized questions  |  Conversational (not scripted)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3520440"/>
            <a:ext cx="5303520" cy="2926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3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 wrap="square"/>
          <a:lstStyle/>
          <a:p>
            <a:pPr algn="l">
              <a:defRPr sz="1200" b="1">
                <a:solidFill>
                  <a:srgbClr val="F5365C"/>
                </a:solidFill>
                <a:latin typeface="Segoe UI"/>
              </a:defRPr>
            </a:pPr>
            <a:r>
              <a:t>Proctoring (100% client-side — no video sent to server)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495057"/>
                </a:solidFill>
                <a:latin typeface="Segoe U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000" b="1">
                <a:solidFill>
                  <a:srgbClr val="495057"/>
                </a:solidFill>
                <a:latin typeface="Segoe UI"/>
              </a:defRPr>
            </a:pPr>
            <a:r>
              <a:t>face-api.js (892 KB)  ·  Detects every 500ms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495057"/>
                </a:solidFill>
                <a:latin typeface="Segoe U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000" b="0">
                <a:solidFill>
                  <a:srgbClr val="212529"/>
                </a:solidFill>
                <a:latin typeface="Segoe UI"/>
              </a:defRPr>
            </a:pPr>
            <a:r>
              <a:t>No face detected       →  -5 pts    (2s grace period)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000" b="0">
                <a:solidFill>
                  <a:srgbClr val="212529"/>
                </a:solidFill>
                <a:latin typeface="Segoe UI"/>
              </a:defRPr>
            </a:pPr>
            <a:r>
              <a:t>Multiple faces            →  -15 pts  (instant)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000" b="0">
                <a:solidFill>
                  <a:srgbClr val="212529"/>
                </a:solidFill>
                <a:latin typeface="Segoe UI"/>
              </a:defRPr>
            </a:pPr>
            <a:r>
              <a:t>Looking away             →  -3 pts    (2s grace, 4-method gaze)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000" b="0">
                <a:solidFill>
                  <a:srgbClr val="212529"/>
                </a:solidFill>
                <a:latin typeface="Segoe UI"/>
              </a:defRPr>
            </a:pPr>
            <a:r>
              <a:t>Tab switch                  →  -10 pts  (instant, 100% accurate)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495057"/>
                </a:solidFill>
                <a:latin typeface="Segoe U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1">
                <a:solidFill>
                  <a:srgbClr val="F5365C"/>
                </a:solidFill>
                <a:latin typeface="Segoe UI"/>
              </a:defRPr>
            </a:pPr>
            <a:r>
              <a:t>3 Strikes = AUTO-TERMINATE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000" b="0">
                <a:solidFill>
                  <a:srgbClr val="495057"/>
                </a:solidFill>
                <a:latin typeface="Segoe UI"/>
              </a:defRPr>
            </a:pPr>
            <a:r>
              <a:t>Integrity Score = 100 - total_deductions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900" b="0">
                <a:solidFill>
                  <a:srgbClr val="6C757D"/>
                </a:solidFill>
                <a:latin typeface="Segoe UI"/>
              </a:defRPr>
            </a:pPr>
            <a:r>
              <a:t>Gaze: head pose + face symmetry + eye width + iris analysis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3520440"/>
            <a:ext cx="5852160" cy="2926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DC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 wrap="square"/>
          <a:lstStyle/>
          <a:p>
            <a:pPr algn="l">
              <a:defRPr sz="1200" b="1">
                <a:solidFill>
                  <a:srgbClr val="0B6E4F"/>
                </a:solidFill>
                <a:latin typeface="Segoe UI"/>
              </a:defRPr>
            </a:pPr>
            <a:r>
              <a:t>5-Category Scored Feedback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495057"/>
                </a:solidFill>
                <a:latin typeface="Segoe U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900" b="0">
                <a:solidFill>
                  <a:srgbClr val="212529"/>
                </a:solidFill>
                <a:latin typeface="Consolas"/>
              </a:defRPr>
            </a:pPr>
            <a:r>
              <a:t>Communication        ███████████████░░░░░ 78/100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900" b="0">
                <a:solidFill>
                  <a:srgbClr val="212529"/>
                </a:solidFill>
                <a:latin typeface="Consolas"/>
              </a:defRPr>
            </a:pPr>
            <a:r>
              <a:t>Technical            ██████████████░░░░░░ 72/100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900" b="0">
                <a:solidFill>
                  <a:srgbClr val="212529"/>
                </a:solidFill>
                <a:latin typeface="Consolas"/>
              </a:defRPr>
            </a:pPr>
            <a:r>
              <a:t>Problem Solving      █████████████░░░░░░░ 65/100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900" b="0">
                <a:solidFill>
                  <a:srgbClr val="212529"/>
                </a:solidFill>
                <a:latin typeface="Consolas"/>
              </a:defRPr>
            </a:pPr>
            <a:r>
              <a:t>Cultural Fit         ████████████████░░░░ 80/100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900" b="0">
                <a:solidFill>
                  <a:srgbClr val="212529"/>
                </a:solidFill>
                <a:latin typeface="Consolas"/>
              </a:defRPr>
            </a:pPr>
            <a:r>
              <a:t>Confidence           ██████████████░░░░░░ 70/100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495057"/>
                </a:solidFill>
                <a:latin typeface="Segoe U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1">
                <a:solidFill>
                  <a:srgbClr val="0B6E4F"/>
                </a:solidFill>
                <a:latin typeface="Segoe UI"/>
              </a:defRPr>
            </a:pPr>
            <a:r>
              <a:t>Total: 73/100 (Good)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000" b="0">
                <a:solidFill>
                  <a:srgbClr val="495057"/>
                </a:solidFill>
                <a:latin typeface="Segoe UI"/>
              </a:defRPr>
            </a:pPr>
            <a:r>
              <a:t>+ 3 Strengths  ·  + 3 Improvements  ·  + Final Assessment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000" b="1">
                <a:solidFill>
                  <a:srgbClr val="228BE6"/>
                </a:solidFill>
                <a:latin typeface="Segoe UI"/>
              </a:defRPr>
            </a:pPr>
            <a:r>
              <a:t>Available in: English  |  Hindi  |  Marathi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228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91440" wrap="square"/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Production Cost Analysis — GCP Mumbai Region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CCDDFF"/>
                </a:solidFill>
                <a:latin typeface="Segoe UI"/>
              </a:defRPr>
            </a:pPr>
            <a:r>
              <a:t>GKE Standard  ·  Spot VMs  ·  KEDA Scale-to-Zero  ·  Pay-as-you-go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97280"/>
            <a:ext cx="5486400" cy="320040"/>
          </a:xfrm>
          <a:prstGeom prst="roundRect">
            <a:avLst/>
          </a:prstGeom>
          <a:solidFill>
            <a:srgbClr val="228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  2-Pool GKE Standard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508760"/>
            <a:ext cx="5486400" cy="1188720"/>
          </a:xfrm>
          <a:prstGeom prst="roundRect">
            <a:avLst/>
          </a:prstGeom>
          <a:solidFill>
            <a:srgbClr val="D1FAE5"/>
          </a:solidFill>
          <a:ln w="25400">
            <a:solidFill>
              <a:srgbClr val="2DC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54864" wrap="square"/>
          <a:lstStyle/>
          <a:p>
            <a:pPr algn="l">
              <a:defRPr sz="1100" b="1">
                <a:solidFill>
                  <a:srgbClr val="0B6E4F"/>
                </a:solidFill>
                <a:latin typeface="Segoe UI"/>
              </a:defRPr>
            </a:pPr>
            <a:r>
              <a:t>Pool 1: "Always On" — e2-standard-2 (2 vCPU, 8GB)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000" b="0">
                <a:solidFill>
                  <a:srgbClr val="495057"/>
                </a:solidFill>
                <a:latin typeface="Segoe UI"/>
              </a:defRPr>
            </a:pPr>
            <a:r>
              <a:t>Express Backend  ·  React Frontend  ·  MongoDB  ·  Qdrant Vector DB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000" b="1">
                <a:solidFill>
                  <a:srgbClr val="212529"/>
                </a:solidFill>
                <a:latin typeface="Segoe UI"/>
              </a:defRPr>
            </a:pPr>
            <a:r>
              <a:t>Spot VM:  Rs 1,800/mo ($22)  —  runs 24/7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834640"/>
            <a:ext cx="5486400" cy="1188720"/>
          </a:xfrm>
          <a:prstGeom prst="roundRect">
            <a:avLst/>
          </a:prstGeom>
          <a:solidFill>
            <a:srgbClr val="DBEAFE"/>
          </a:solidFill>
          <a:ln w="25400">
            <a:solidFill>
              <a:srgbClr val="228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54864" wrap="square"/>
          <a:lstStyle/>
          <a:p>
            <a:pPr algn="l">
              <a:defRPr sz="1100" b="1">
                <a:solidFill>
                  <a:srgbClr val="228BE6"/>
                </a:solidFill>
                <a:latin typeface="Segoe UI"/>
              </a:defRPr>
            </a:pPr>
            <a:r>
              <a:t>Pool 2: "Scale to Zero" — g2-standard-4 + NVIDIA L4 GPU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000" b="0">
                <a:solidFill>
                  <a:srgbClr val="495057"/>
                </a:solidFill>
                <a:latin typeface="Segoe UI"/>
              </a:defRPr>
            </a:pPr>
            <a:r>
              <a:t>Ollama Gemma3  ·  Whisper STT  ·  Edge TTS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000" b="1">
                <a:solidFill>
                  <a:srgbClr val="212529"/>
                </a:solidFill>
                <a:latin typeface="Segoe UI"/>
              </a:defRPr>
            </a:pPr>
            <a:r>
              <a:t>Spot GPU:  Rs 12/hr  —  0 nodes when idle = Rs 0 cost  (KEDA autoscale)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17920" y="1097280"/>
          <a:ext cx="55778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463040"/>
                <a:gridCol w="1920240"/>
              </a:tblGrid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Feature</a:t>
                      </a:r>
                    </a:p>
                  </a:txBody>
                  <a:tcPr marL="73152" marR="73152" marT="36576" marB="36576">
                    <a:solidFill>
                      <a:srgbClr val="228B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Service</a:t>
                      </a:r>
                    </a:p>
                  </a:txBody>
                  <a:tcPr marL="73152" marR="73152" marT="36576" marB="36576">
                    <a:solidFill>
                      <a:srgbClr val="228B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Cost (Rs)</a:t>
                      </a:r>
                    </a:p>
                  </a:txBody>
                  <a:tcPr marL="73152" marR="73152" marT="36576" marB="36576">
                    <a:solidFill>
                      <a:srgbClr val="228BE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Mock Interview (20 min)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L4 GPU Spot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2.50 - 4.00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Skill Gap Analysis</a:t>
                      </a:r>
                    </a:p>
                  </a:txBody>
                  <a:tcPr marL="73152" marR="73152" marT="36576" marB="36576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L4 GPU Spot</a:t>
                      </a:r>
                    </a:p>
                  </a:txBody>
                  <a:tcPr marL="73152" marR="73152" marT="36576" marB="36576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0.25 - 0.40</a:t>
                      </a:r>
                    </a:p>
                  </a:txBody>
                  <a:tcPr marL="73152" marR="73152" marT="36576" marB="36576">
                    <a:solidFill>
                      <a:srgbClr val="F1F3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Job Matching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CPU + MongoDB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0.10 - 0.20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Vector Embeddings</a:t>
                      </a:r>
                    </a:p>
                  </a:txBody>
                  <a:tcPr marL="73152" marR="73152" marT="36576" marB="36576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CPU only</a:t>
                      </a:r>
                    </a:p>
                  </a:txBody>
                  <a:tcPr marL="73152" marR="73152" marT="36576" marB="36576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0.05 - 0.15</a:t>
                      </a:r>
                    </a:p>
                  </a:txBody>
                  <a:tcPr marL="73152" marR="73152" marT="36576" marB="36576">
                    <a:solidFill>
                      <a:srgbClr val="F1F3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Storage &amp; DB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MongoDB + GCS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0.60 - 1.20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DAILY TOTAL</a:t>
                      </a:r>
                    </a:p>
                  </a:txBody>
                  <a:tcPr marL="73152" marR="73152" marT="36576" marB="36576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</a:p>
                  </a:txBody>
                  <a:tcPr marL="73152" marR="73152" marT="36576" marB="36576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Rs 3.50 - 6.00</a:t>
                      </a:r>
                    </a:p>
                  </a:txBody>
                  <a:tcPr marL="73152" marR="73152" marT="36576" marB="36576">
                    <a:solidFill>
                      <a:srgbClr val="F1F3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206240"/>
          <a:ext cx="5486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371600"/>
                <a:gridCol w="1371600"/>
                <a:gridCol w="1554480"/>
              </a:tblGrid>
              <a:tr h="3429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Scale</a:t>
                      </a:r>
                    </a:p>
                  </a:txBody>
                  <a:tcPr marL="73152" marR="73152" marT="36576" marB="36576">
                    <a:solidFill>
                      <a:srgbClr val="6F42C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Autopilot</a:t>
                      </a:r>
                    </a:p>
                  </a:txBody>
                  <a:tcPr marL="73152" marR="73152" marT="36576" marB="36576">
                    <a:solidFill>
                      <a:srgbClr val="6F42C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Standard</a:t>
                      </a:r>
                    </a:p>
                  </a:txBody>
                  <a:tcPr marL="73152" marR="73152" marT="36576" marB="36576">
                    <a:solidFill>
                      <a:srgbClr val="6F42C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Savings</a:t>
                      </a:r>
                    </a:p>
                  </a:txBody>
                  <a:tcPr marL="73152" marR="73152" marT="36576" marB="36576">
                    <a:solidFill>
                      <a:srgbClr val="6F42C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5 users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Rs 4,500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Rs 4,200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~7%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500 users</a:t>
                      </a:r>
                    </a:p>
                  </a:txBody>
                  <a:tcPr marL="73152" marR="73152" marT="36576" marB="36576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Rs 18,000</a:t>
                      </a:r>
                    </a:p>
                  </a:txBody>
                  <a:tcPr marL="73152" marR="73152" marT="36576" marB="36576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Rs 7,500</a:t>
                      </a:r>
                    </a:p>
                  </a:txBody>
                  <a:tcPr marL="73152" marR="73152" marT="36576" marB="36576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58%</a:t>
                      </a:r>
                    </a:p>
                  </a:txBody>
                  <a:tcPr marL="73152" marR="73152" marT="36576" marB="36576">
                    <a:solidFill>
                      <a:srgbClr val="F1F3F5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5,000 users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Rs 85,000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Rs 25,000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70%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217920" y="3931920"/>
            <a:ext cx="5577840" cy="16459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DC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 wrap="square"/>
          <a:lstStyle/>
          <a:p>
            <a:pPr algn="l">
              <a:defRPr sz="1400" b="1">
                <a:solidFill>
                  <a:srgbClr val="0B6E4F"/>
                </a:solidFill>
                <a:latin typeface="Segoe UI"/>
              </a:defRPr>
            </a:pPr>
            <a:r>
              <a:t>The Comparison That Matters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495057"/>
                </a:solidFill>
                <a:latin typeface="Segoe UI"/>
              </a:defRPr>
            </a:pPr>
          </a:p>
          <a:p>
            <a:pPr algn="l">
              <a:spcBef>
                <a:spcPts val="600"/>
              </a:spcBef>
              <a:spcAft>
                <a:spcPts val="200"/>
              </a:spcAft>
              <a:defRPr sz="1600" b="1">
                <a:solidFill>
                  <a:srgbClr val="2DCE89"/>
                </a:solidFill>
                <a:latin typeface="Segoe UI"/>
              </a:defRPr>
            </a:pPr>
            <a:r>
              <a:t>YuvaSetu:    Rs 5/day per user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400" b="1">
                <a:solidFill>
                  <a:srgbClr val="F5365C"/>
                </a:solidFill>
                <a:latin typeface="Segoe UI"/>
              </a:defRPr>
            </a:pPr>
            <a:r>
              <a:t>Traditional: Rs 5,000-50,000 per session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200" b="1">
                <a:solidFill>
                  <a:srgbClr val="228BE6"/>
                </a:solidFill>
                <a:latin typeface="Segoe UI"/>
              </a:defRPr>
            </a:pPr>
            <a:r>
              <a:t>&gt; 1000x cheaper. Same features. In Hindi.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5760720"/>
            <a:ext cx="11430000" cy="457200"/>
          </a:xfrm>
          <a:prstGeom prst="round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0">
                <a:solidFill>
                  <a:srgbClr val="6C757D"/>
                </a:solidFill>
                <a:latin typeface="Segoe UI"/>
              </a:defRPr>
            </a:pPr>
            <a:r>
              <a:t>  Fixed baseline (zero users): Rs 3,750/mo ($45) — LB + system node + disk. GKE fee covered by $74.40 GCP credit.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228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91440" wrap="square"/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Why YuvaSetu Is Different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CCDDFF"/>
                </a:solidFill>
                <a:latin typeface="Segoe UI"/>
              </a:defRPr>
            </a:pPr>
            <a:r>
              <a:t>No existing platform combines all these features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097280"/>
          <a:ext cx="676656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822960"/>
                <a:gridCol w="822960"/>
                <a:gridCol w="822960"/>
                <a:gridCol w="822960"/>
                <a:gridCol w="822960"/>
                <a:gridCol w="914400"/>
              </a:tblGrid>
              <a:tr h="34747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Feature</a:t>
                      </a:r>
                    </a:p>
                  </a:txBody>
                  <a:tcPr marL="73152" marR="73152" marT="36576" marB="36576">
                    <a:solidFill>
                      <a:srgbClr val="228B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YuvaSetu</a:t>
                      </a:r>
                    </a:p>
                  </a:txBody>
                  <a:tcPr marL="73152" marR="73152" marT="36576" marB="36576">
                    <a:solidFill>
                      <a:srgbClr val="228B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Unstop</a:t>
                      </a:r>
                    </a:p>
                  </a:txBody>
                  <a:tcPr marL="73152" marR="73152" marT="36576" marB="36576">
                    <a:solidFill>
                      <a:srgbClr val="228B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Pramp</a:t>
                      </a:r>
                    </a:p>
                  </a:txBody>
                  <a:tcPr marL="73152" marR="73152" marT="36576" marB="36576">
                    <a:solidFill>
                      <a:srgbClr val="228B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InterviewBit</a:t>
                      </a:r>
                    </a:p>
                  </a:txBody>
                  <a:tcPr marL="73152" marR="73152" marT="36576" marB="36576">
                    <a:solidFill>
                      <a:srgbClr val="228B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Naukri</a:t>
                      </a:r>
                    </a:p>
                  </a:txBody>
                  <a:tcPr marL="73152" marR="73152" marT="36576" marB="36576">
                    <a:solidFill>
                      <a:srgbClr val="228B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LinkedIn</a:t>
                      </a:r>
                    </a:p>
                  </a:txBody>
                  <a:tcPr marL="73152" marR="73152" marT="36576" marB="36576">
                    <a:solidFill>
                      <a:srgbClr val="228BE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Voice AI Interview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✓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✗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✗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✗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✗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✗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Hindi/Marathi Voice</a:t>
                      </a:r>
                    </a:p>
                  </a:txBody>
                  <a:tcPr marL="73152" marR="73152" marT="36576" marB="36576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✓</a:t>
                      </a:r>
                    </a:p>
                  </a:txBody>
                  <a:tcPr marL="73152" marR="73152" marT="36576" marB="36576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✗</a:t>
                      </a:r>
                    </a:p>
                  </a:txBody>
                  <a:tcPr marL="73152" marR="73152" marT="36576" marB="36576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✗</a:t>
                      </a:r>
                    </a:p>
                  </a:txBody>
                  <a:tcPr marL="73152" marR="73152" marT="36576" marB="36576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✗</a:t>
                      </a:r>
                    </a:p>
                  </a:txBody>
                  <a:tcPr marL="73152" marR="73152" marT="36576" marB="36576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✗</a:t>
                      </a:r>
                    </a:p>
                  </a:txBody>
                  <a:tcPr marL="73152" marR="73152" marT="36576" marB="36576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✗</a:t>
                      </a:r>
                    </a:p>
                  </a:txBody>
                  <a:tcPr marL="73152" marR="73152" marT="36576" marB="36576">
                    <a:solidFill>
                      <a:srgbClr val="F1F3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AI Proctoring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✓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✗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✗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✗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✗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✗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Semantic Job Match</a:t>
                      </a:r>
                    </a:p>
                  </a:txBody>
                  <a:tcPr marL="73152" marR="73152" marT="36576" marB="36576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✓</a:t>
                      </a:r>
                    </a:p>
                  </a:txBody>
                  <a:tcPr marL="73152" marR="73152" marT="36576" marB="36576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✗</a:t>
                      </a:r>
                    </a:p>
                  </a:txBody>
                  <a:tcPr marL="73152" marR="73152" marT="36576" marB="36576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✗</a:t>
                      </a:r>
                    </a:p>
                  </a:txBody>
                  <a:tcPr marL="73152" marR="73152" marT="36576" marB="36576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✗</a:t>
                      </a:r>
                    </a:p>
                  </a:txBody>
                  <a:tcPr marL="73152" marR="73152" marT="36576" marB="36576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✗</a:t>
                      </a:r>
                    </a:p>
                  </a:txBody>
                  <a:tcPr marL="73152" marR="73152" marT="36576" marB="36576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✗</a:t>
                      </a:r>
                    </a:p>
                  </a:txBody>
                  <a:tcPr marL="73152" marR="73152" marT="36576" marB="36576">
                    <a:solidFill>
                      <a:srgbClr val="F1F3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Skill Gap → Courses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✓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✗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✗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✗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✗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✗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Free Govt Courses</a:t>
                      </a:r>
                    </a:p>
                  </a:txBody>
                  <a:tcPr marL="73152" marR="73152" marT="36576" marB="36576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✓</a:t>
                      </a:r>
                    </a:p>
                  </a:txBody>
                  <a:tcPr marL="73152" marR="73152" marT="36576" marB="36576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✗</a:t>
                      </a:r>
                    </a:p>
                  </a:txBody>
                  <a:tcPr marL="73152" marR="73152" marT="36576" marB="36576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✗</a:t>
                      </a:r>
                    </a:p>
                  </a:txBody>
                  <a:tcPr marL="73152" marR="73152" marT="36576" marB="36576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✗</a:t>
                      </a:r>
                    </a:p>
                  </a:txBody>
                  <a:tcPr marL="73152" marR="73152" marT="36576" marB="36576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✗</a:t>
                      </a:r>
                    </a:p>
                  </a:txBody>
                  <a:tcPr marL="73152" marR="73152" marT="36576" marB="36576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✗</a:t>
                      </a:r>
                    </a:p>
                  </a:txBody>
                  <a:tcPr marL="73152" marR="73152" marT="36576" marB="36576">
                    <a:solidFill>
                      <a:srgbClr val="F1F3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Local LLM (Rs 0)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✓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✗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✗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✗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✗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✗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5-Cat Scored Feedback</a:t>
                      </a:r>
                    </a:p>
                  </a:txBody>
                  <a:tcPr marL="73152" marR="73152" marT="36576" marB="36576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✓</a:t>
                      </a:r>
                    </a:p>
                  </a:txBody>
                  <a:tcPr marL="73152" marR="73152" marT="36576" marB="36576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✗</a:t>
                      </a:r>
                    </a:p>
                  </a:txBody>
                  <a:tcPr marL="73152" marR="73152" marT="36576" marB="36576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✗</a:t>
                      </a:r>
                    </a:p>
                  </a:txBody>
                  <a:tcPr marL="73152" marR="73152" marT="36576" marB="36576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✗</a:t>
                      </a:r>
                    </a:p>
                  </a:txBody>
                  <a:tcPr marL="73152" marR="73152" marT="36576" marB="36576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✗</a:t>
                      </a:r>
                    </a:p>
                  </a:txBody>
                  <a:tcPr marL="73152" marR="73152" marT="36576" marB="36576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✗</a:t>
                      </a:r>
                    </a:p>
                  </a:txBody>
                  <a:tcPr marL="73152" marR="73152" marT="36576" marB="36576">
                    <a:solidFill>
                      <a:srgbClr val="F1F3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Hiring Challenges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✗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✓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✗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✗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✗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✗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040880" y="1097280"/>
            <a:ext cx="246888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28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wrap="square"/>
          <a:lstStyle/>
          <a:p>
            <a:pPr algn="ctr">
              <a:defRPr sz="1100" b="1">
                <a:solidFill>
                  <a:srgbClr val="228BE6"/>
                </a:solidFill>
                <a:latin typeface="Segoe UI"/>
              </a:defRPr>
            </a:pPr>
            <a:r>
              <a:t>Local LLM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900" b="0">
                <a:solidFill>
                  <a:srgbClr val="495057"/>
                </a:solidFill>
                <a:latin typeface="Segoe UI"/>
              </a:defRPr>
            </a:pPr>
            <a:r>
              <a:t>Data NEVER leaves machine.</a:t>
            </a:r>
            <a:br/>
            <a:r>
              <a:t>Zero API cost. Privacy-first.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92640" y="1097280"/>
            <a:ext cx="246888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F42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wrap="square"/>
          <a:lstStyle/>
          <a:p>
            <a:pPr algn="ctr">
              <a:defRPr sz="1100" b="1">
                <a:solidFill>
                  <a:srgbClr val="6F42C1"/>
                </a:solidFill>
                <a:latin typeface="Segoe UI"/>
              </a:defRPr>
            </a:pPr>
            <a:r>
              <a:t>Semantic Matching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900" b="0">
                <a:solidFill>
                  <a:srgbClr val="495057"/>
                </a:solidFill>
                <a:latin typeface="Segoe UI"/>
              </a:defRPr>
            </a:pPr>
            <a:r>
              <a:t>Surfaces 88% of talent</a:t>
            </a:r>
            <a:br/>
            <a:r>
              <a:t>that keyword ATS misses.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0" y="2651760"/>
            <a:ext cx="246888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DC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wrap="square"/>
          <a:lstStyle/>
          <a:p>
            <a:pPr algn="ctr">
              <a:defRPr sz="1100" b="1">
                <a:solidFill>
                  <a:srgbClr val="2DCE89"/>
                </a:solidFill>
                <a:latin typeface="Segoe UI"/>
              </a:defRPr>
            </a:pPr>
            <a:r>
              <a:t>Skills-First Weights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900" b="0">
                <a:solidFill>
                  <a:srgbClr val="495057"/>
                </a:solidFill>
                <a:latin typeface="Segoe UI"/>
              </a:defRPr>
            </a:pPr>
            <a:r>
              <a:t>Skills-based orgs 107% more</a:t>
            </a:r>
            <a:br/>
            <a:r>
              <a:t>likely to place talent (Deloitte).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92640" y="2651760"/>
            <a:ext cx="246888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B6D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wrap="square"/>
          <a:lstStyle/>
          <a:p>
            <a:pPr algn="ctr">
              <a:defRPr sz="1100" b="1">
                <a:solidFill>
                  <a:srgbClr val="FB6D40"/>
                </a:solidFill>
                <a:latin typeface="Segoe UI"/>
              </a:defRPr>
            </a:pPr>
            <a:r>
              <a:t>Govt Course Integration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900" b="0">
                <a:solidFill>
                  <a:srgbClr val="495057"/>
                </a:solidFill>
                <a:latin typeface="Segoe UI"/>
              </a:defRPr>
            </a:pPr>
            <a:r>
              <a:t>237 free NPTEL/SWAYAM courses.</a:t>
            </a:r>
            <a:br/>
            <a:r>
              <a:t>Not Udemy upsells.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0" y="4206240"/>
            <a:ext cx="246888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3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wrap="square"/>
          <a:lstStyle/>
          <a:p>
            <a:pPr algn="ctr">
              <a:defRPr sz="1100" b="1">
                <a:solidFill>
                  <a:srgbClr val="F5365C"/>
                </a:solidFill>
                <a:latin typeface="Segoe UI"/>
              </a:defRPr>
            </a:pPr>
            <a:r>
              <a:t>Client-Side Proctoring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900" b="0">
                <a:solidFill>
                  <a:srgbClr val="495057"/>
                </a:solidFill>
                <a:latin typeface="Segoe UI"/>
              </a:defRPr>
            </a:pPr>
            <a:r>
              <a:t>No video to server. 892KB</a:t>
            </a:r>
            <a:br/>
            <a:r>
              <a:t>models run in browser.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92640" y="4206240"/>
            <a:ext cx="246888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wrap="square"/>
          <a:lstStyle/>
          <a:p>
            <a:pPr algn="ctr">
              <a:defRPr sz="1100" b="1">
                <a:solidFill>
                  <a:srgbClr val="64748B"/>
                </a:solidFill>
                <a:latin typeface="Segoe UI"/>
              </a:defRPr>
            </a:pPr>
            <a:r>
              <a:t>End-to-End Pipeline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900" b="0">
                <a:solidFill>
                  <a:srgbClr val="495057"/>
                </a:solidFill>
                <a:latin typeface="Segoe UI"/>
              </a:defRPr>
            </a:pPr>
            <a:r>
              <a:t>Resume → Match → Gap →</a:t>
            </a:r>
            <a:br/>
            <a:r>
              <a:t>Learn → Interview → Feedback.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4572000"/>
            <a:ext cx="11430000" cy="1645920"/>
          </a:xfrm>
          <a:prstGeom prst="roundRect">
            <a:avLst/>
          </a:prstGeom>
          <a:solidFill>
            <a:srgbClr val="F5F0FF"/>
          </a:solidFill>
          <a:ln w="25400">
            <a:solidFill>
              <a:srgbClr val="6F42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 wrap="square"/>
          <a:lstStyle/>
          <a:p>
            <a:pPr algn="l">
              <a:defRPr sz="1400" b="1">
                <a:solidFill>
                  <a:srgbClr val="6F42C1"/>
                </a:solidFill>
                <a:latin typeface="Segoe UI"/>
              </a:defRPr>
            </a:pPr>
            <a:r>
              <a:t>The "Hidden Talent" Problem We Solve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495057"/>
                </a:solidFill>
                <a:latin typeface="Segoe UI"/>
              </a:defRPr>
            </a:pP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0">
                <a:solidFill>
                  <a:srgbClr val="F5365C"/>
                </a:solidFill>
                <a:latin typeface="Segoe UI"/>
              </a:defRPr>
            </a:pPr>
            <a:r>
              <a:t>Traditional ATS:  Job requires "React" → Resume says "Built SPAs with React.js, Redux, TypeScript" → REJECTED (keyword format mismatch)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495057"/>
                </a:solidFill>
                <a:latin typeface="Segoe U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2DCE89"/>
                </a:solidFill>
                <a:latin typeface="Segoe UI"/>
              </a:defRPr>
            </a:pPr>
            <a:r>
              <a:t>YuvaSetu Semantic:  Job vector [768-dim] vs Resume vector [768-dim] → Cosine similarity: 0.94 → 94% MATCH (understands meaning, not just words)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495057"/>
                </a:solidFill>
                <a:latin typeface="Segoe U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1">
                <a:solidFill>
                  <a:srgbClr val="6F42C1"/>
                </a:solidFill>
                <a:latin typeface="Segoe UI"/>
              </a:defRPr>
            </a:pPr>
            <a:r>
              <a:t>88% of employers believe their ATS rejects qualified candidates — Harvard Business School (2021)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228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91440" wrap="square"/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Research &amp; Evidence Base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CCDDFF"/>
                </a:solidFill>
                <a:latin typeface="Segoe UI"/>
              </a:defRPr>
            </a:pPr>
            <a:r>
              <a:t>Peer-reviewed papers  ·  Government data  ·  Industry reports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51560"/>
            <a:ext cx="5669280" cy="274320"/>
          </a:xfrm>
          <a:prstGeom prst="roundRect">
            <a:avLst/>
          </a:prstGeom>
          <a:solidFill>
            <a:srgbClr val="F53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  A. Employment Crisis Data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371600"/>
          <a:ext cx="56692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463040"/>
                <a:gridCol w="2377440"/>
              </a:tblGrid>
              <a:tr h="3352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Statistic</a:t>
                      </a:r>
                    </a:p>
                  </a:txBody>
                  <a:tcPr marL="73152" marR="73152" marT="36576" marB="36576">
                    <a:solidFill>
                      <a:srgbClr val="F536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Value</a:t>
                      </a:r>
                    </a:p>
                  </a:txBody>
                  <a:tcPr marL="73152" marR="73152" marT="36576" marB="36576">
                    <a:solidFill>
                      <a:srgbClr val="F536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Source</a:t>
                      </a:r>
                    </a:p>
                  </a:txBody>
                  <a:tcPr marL="73152" marR="73152" marT="36576" marB="36576">
                    <a:solidFill>
                      <a:srgbClr val="F5365C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Engg graduates/year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1.5M (10% get jobs)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Business Standard, 2024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Unemployed after degree</a:t>
                      </a:r>
                    </a:p>
                  </a:txBody>
                  <a:tcPr marL="73152" marR="73152" marT="36576" marB="36576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83%</a:t>
                      </a:r>
                    </a:p>
                  </a:txBody>
                  <a:tcPr marL="73152" marR="73152" marT="36576" marB="36576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Unstop Talent Report 2025</a:t>
                      </a:r>
                    </a:p>
                  </a:txBody>
                  <a:tcPr marL="73152" marR="73152" marT="36576" marB="36576">
                    <a:solidFill>
                      <a:srgbClr val="F1F3F5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Grads under 25 jobless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40%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Azim Premji Univ, 2026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Employers: skill mismatch</a:t>
                      </a:r>
                    </a:p>
                  </a:txBody>
                  <a:tcPr marL="73152" marR="73152" marT="36576" marB="36576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82%</a:t>
                      </a:r>
                    </a:p>
                  </a:txBody>
                  <a:tcPr marL="73152" marR="73152" marT="36576" marB="36576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India Skills Report 2025</a:t>
                      </a:r>
                    </a:p>
                  </a:txBody>
                  <a:tcPr marL="73152" marR="73152" marT="36576" marB="36576">
                    <a:solidFill>
                      <a:srgbClr val="F1F3F5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Graduate employability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42.6%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Mercer-Mettl GSI 2025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309360" y="1051560"/>
            <a:ext cx="5486400" cy="274320"/>
          </a:xfrm>
          <a:prstGeom prst="roundRect">
            <a:avLst/>
          </a:prstGeom>
          <a:solidFill>
            <a:srgbClr val="228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  B. Algorithm &amp; Matching Research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309360" y="1371600"/>
          <a:ext cx="54864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828800"/>
                <a:gridCol w="2011680"/>
              </a:tblGrid>
              <a:tr h="3352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Paper</a:t>
                      </a:r>
                    </a:p>
                  </a:txBody>
                  <a:tcPr marL="73152" marR="73152" marT="36576" marB="36576">
                    <a:solidFill>
                      <a:srgbClr val="228B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Key Finding</a:t>
                      </a:r>
                    </a:p>
                  </a:txBody>
                  <a:tcPr marL="73152" marR="73152" marT="36576" marB="36576">
                    <a:solidFill>
                      <a:srgbClr val="228B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How We Use It</a:t>
                      </a:r>
                    </a:p>
                  </a:txBody>
                  <a:tcPr marL="73152" marR="73152" marT="36576" marB="36576">
                    <a:solidFill>
                      <a:srgbClr val="228BE6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Schmidt &amp; Hunter (1998)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Skills tests: r=0.54 highest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Skills weighted 50%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Deloitte (2022)</a:t>
                      </a:r>
                    </a:p>
                  </a:txBody>
                  <a:tcPr marL="73152" marR="73152" marT="36576" marB="36576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Skills-based: 107% better hiring</a:t>
                      </a:r>
                    </a:p>
                  </a:txBody>
                  <a:tcPr marL="73152" marR="73152" marT="36576" marB="36576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Skills as primary vector</a:t>
                      </a:r>
                    </a:p>
                  </a:txBody>
                  <a:tcPr marL="73152" marR="73152" marT="36576" marB="36576">
                    <a:solidFill>
                      <a:srgbClr val="F1F3F5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Holistic Triangle (2024)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3 dims: skill + exp + fit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3-vector approach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Harvard (2021)</a:t>
                      </a:r>
                    </a:p>
                  </a:txBody>
                  <a:tcPr marL="73152" marR="73152" marT="36576" marB="36576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88% ATS rejects good talent</a:t>
                      </a:r>
                    </a:p>
                  </a:txBody>
                  <a:tcPr marL="73152" marR="73152" marT="36576" marB="36576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Semantic matching</a:t>
                      </a:r>
                    </a:p>
                  </a:txBody>
                  <a:tcPr marL="73152" marR="73152" marT="36576" marB="36576">
                    <a:solidFill>
                      <a:srgbClr val="F1F3F5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arXiv (2021)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Multi-vector &gt; keywords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Cosine reranking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365760" y="3566160"/>
            <a:ext cx="5669280" cy="274320"/>
          </a:xfrm>
          <a:prstGeom prst="round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  C. AI Interview Research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3886200"/>
          <a:ext cx="566928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645920"/>
                <a:gridCol w="2011680"/>
              </a:tblGrid>
              <a:tr h="3429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Finding</a:t>
                      </a:r>
                    </a:p>
                  </a:txBody>
                  <a:tcPr marL="73152" marR="73152" marT="36576" marB="36576">
                    <a:solidFill>
                      <a:srgbClr val="6F42C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Statistic</a:t>
                      </a:r>
                    </a:p>
                  </a:txBody>
                  <a:tcPr marL="73152" marR="73152" marT="36576" marB="36576">
                    <a:solidFill>
                      <a:srgbClr val="6F42C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Source</a:t>
                      </a:r>
                    </a:p>
                  </a:txBody>
                  <a:tcPr marL="73152" marR="73152" marT="36576" marB="36576">
                    <a:solidFill>
                      <a:srgbClr val="6F42C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AI practice improves comm.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30% improvement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Forbes HR Council, 2023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Low-pressure AI simulation</a:t>
                      </a:r>
                    </a:p>
                  </a:txBody>
                  <a:tcPr marL="73152" marR="73152" marT="36576" marB="36576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Reduces interview anxiety</a:t>
                      </a:r>
                    </a:p>
                  </a:txBody>
                  <a:tcPr marL="73152" marR="73152" marT="36576" marB="36576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Predictive Validity, 2022</a:t>
                      </a:r>
                    </a:p>
                  </a:txBody>
                  <a:tcPr marL="73152" marR="73152" marT="36576" marB="36576">
                    <a:solidFill>
                      <a:srgbClr val="F1F3F5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Embedding cosine sim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r &gt; 0.80 vs human judgment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Sentence-BERT, 2019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309360" y="3566160"/>
            <a:ext cx="5486400" cy="274320"/>
          </a:xfrm>
          <a:prstGeom prst="roundRect">
            <a:avLst/>
          </a:prstGeom>
          <a:solidFill>
            <a:srgbClr val="2DC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  D. Government Platform Data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09360" y="3886200"/>
          <a:ext cx="5486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828800"/>
                <a:gridCol w="2011680"/>
              </a:tblGrid>
              <a:tr h="3429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Platform</a:t>
                      </a:r>
                    </a:p>
                  </a:txBody>
                  <a:tcPr marL="73152" marR="73152" marT="36576" marB="36576">
                    <a:solidFill>
                      <a:srgbClr val="2DCE8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Users</a:t>
                      </a:r>
                    </a:p>
                  </a:txBody>
                  <a:tcPr marL="73152" marR="73152" marT="36576" marB="36576">
                    <a:solidFill>
                      <a:srgbClr val="2DCE8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Courses</a:t>
                      </a:r>
                    </a:p>
                  </a:txBody>
                  <a:tcPr marL="73152" marR="73152" marT="36576" marB="36576">
                    <a:solidFill>
                      <a:srgbClr val="2DCE89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SWAYAM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1.21 Crore (12.1M)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11,772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Skill India (SIDH)</a:t>
                      </a:r>
                    </a:p>
                  </a:txBody>
                  <a:tcPr marL="73152" marR="73152" marT="36576" marB="36576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1.5 Crore (15M)</a:t>
                      </a:r>
                    </a:p>
                  </a:txBody>
                  <a:tcPr marL="73152" marR="73152" marT="36576" marB="36576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752</a:t>
                      </a:r>
                    </a:p>
                  </a:txBody>
                  <a:tcPr marL="73152" marR="73152" marT="36576" marB="36576">
                    <a:solidFill>
                      <a:srgbClr val="F1F3F5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NPTEL (IITs)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Part of SWAYAM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3,353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365760" y="5486400"/>
            <a:ext cx="11430000" cy="1005840"/>
          </a:xfrm>
          <a:prstGeom prst="roundRect">
            <a:avLst/>
          </a:prstGeom>
          <a:solidFill>
            <a:srgbClr val="F0F4FF"/>
          </a:solidFill>
          <a:ln w="25400">
            <a:solidFill>
              <a:srgbClr val="228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73152" wrap="square"/>
          <a:lstStyle/>
          <a:p>
            <a:pPr algn="l">
              <a:defRPr sz="1100" b="1">
                <a:solidFill>
                  <a:srgbClr val="228BE6"/>
                </a:solidFill>
                <a:latin typeface="Segoe UI"/>
              </a:defRPr>
            </a:pPr>
            <a:r>
              <a:t>Weight Derivation (50/30/20) — Proportional to Meta-Analytic Validity Coefficients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0">
                <a:solidFill>
                  <a:srgbClr val="212529"/>
                </a:solidFill>
                <a:latin typeface="Segoe UI"/>
              </a:defRPr>
            </a:pPr>
            <a:r>
              <a:t>Skills: r ≈ 0.54 → 0.54/1.07 = 50%   |   Experience: r ≈ 0.33 → 0.33/1.07 = 30%   |   Role Fit: r ≈ 0.20 → 0.20/1.07 = 20%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900" b="0">
                <a:solidFill>
                  <a:srgbClr val="6C757D"/>
                </a:solidFill>
                <a:latin typeface="Segoe UI"/>
              </a:defRPr>
            </a:pPr>
            <a:r>
              <a:t>Sources: Schmidt &amp; Hunter 85-year meta-analysis (1998)  ·  Kristof-Brown et al. (2005)  ·  Quinones, Ford &amp; Teachout (1995)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228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91440" wrap="square"/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Impact + Live Demo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CCDDFF"/>
                </a:solidFill>
                <a:latin typeface="Segoe UI"/>
              </a:defRPr>
            </a:pPr>
            <a:r>
              <a:t>YuvaSetu — AI-Powered Career Platform for Bharat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97280"/>
            <a:ext cx="17830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37160" wrap="square"/>
          <a:lstStyle/>
          <a:p>
            <a:pPr algn="ctr">
              <a:defRPr sz="3200" b="1">
                <a:solidFill>
                  <a:srgbClr val="228BE6"/>
                </a:solidFill>
                <a:latin typeface="Segoe UI"/>
              </a:defRPr>
            </a:pPr>
            <a:r>
              <a:t>28,680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495057"/>
                </a:solidFill>
                <a:latin typeface="Segoe UI"/>
              </a:defRPr>
            </a:pPr>
            <a:r>
              <a:t>Lines of</a:t>
            </a:r>
            <a:br/>
            <a:r>
              <a:t>Code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331720" y="1097280"/>
            <a:ext cx="17830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37160" wrap="square"/>
          <a:lstStyle/>
          <a:p>
            <a:pPr algn="ctr">
              <a:defRPr sz="3200" b="1">
                <a:solidFill>
                  <a:srgbClr val="6F42C1"/>
                </a:solidFill>
                <a:latin typeface="Segoe UI"/>
              </a:defRPr>
            </a:pPr>
            <a:r>
              <a:t>6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495057"/>
                </a:solidFill>
                <a:latin typeface="Segoe UI"/>
              </a:defRPr>
            </a:pPr>
            <a:r>
              <a:t>AI Systems</a:t>
            </a:r>
            <a:br/>
            <a:r>
              <a:t>Integrated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097280"/>
            <a:ext cx="17830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37160" wrap="square"/>
          <a:lstStyle/>
          <a:p>
            <a:pPr algn="ctr">
              <a:defRPr sz="3200" b="1">
                <a:solidFill>
                  <a:srgbClr val="2DCE89"/>
                </a:solidFill>
                <a:latin typeface="Segoe UI"/>
              </a:defRPr>
            </a:pPr>
            <a:r>
              <a:t>43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495057"/>
                </a:solidFill>
                <a:latin typeface="Segoe UI"/>
              </a:defRPr>
            </a:pPr>
            <a:r>
              <a:t>API</a:t>
            </a:r>
            <a:br/>
            <a:r>
              <a:t>Endpoints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097280"/>
            <a:ext cx="17830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37160" wrap="square"/>
          <a:lstStyle/>
          <a:p>
            <a:pPr algn="ctr">
              <a:defRPr sz="3200" b="1">
                <a:solidFill>
                  <a:srgbClr val="FB6D40"/>
                </a:solidFill>
                <a:latin typeface="Segoe UI"/>
              </a:defRPr>
            </a:pPr>
            <a:r>
              <a:t>3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495057"/>
                </a:solidFill>
                <a:latin typeface="Segoe UI"/>
              </a:defRPr>
            </a:pPr>
            <a:r>
              <a:t>Languages</a:t>
            </a:r>
            <a:br/>
            <a:r>
              <a:t>Supported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097280"/>
            <a:ext cx="17830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37160" wrap="square"/>
          <a:lstStyle/>
          <a:p>
            <a:pPr algn="ctr">
              <a:defRPr sz="3200" b="1">
                <a:solidFill>
                  <a:srgbClr val="0B6E4F"/>
                </a:solidFill>
                <a:latin typeface="Segoe UI"/>
              </a:defRPr>
            </a:pPr>
            <a:r>
              <a:t>237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495057"/>
                </a:solidFill>
                <a:latin typeface="Segoe UI"/>
              </a:defRPr>
            </a:pPr>
            <a:r>
              <a:t>Govt Courses</a:t>
            </a:r>
            <a:br/>
            <a:r>
              <a:t>Scraped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195560" y="1097280"/>
            <a:ext cx="17830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37160" wrap="square"/>
          <a:lstStyle/>
          <a:p>
            <a:pPr algn="ctr">
              <a:defRPr sz="3200" b="1">
                <a:solidFill>
                  <a:srgbClr val="F5365C"/>
                </a:solidFill>
                <a:latin typeface="Segoe UI"/>
              </a:defRPr>
            </a:pPr>
            <a:r>
              <a:t>Rs 0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495057"/>
                </a:solidFill>
                <a:latin typeface="Segoe UI"/>
              </a:defRPr>
            </a:pPr>
            <a:r>
              <a:t>Interview</a:t>
            </a:r>
            <a:br/>
            <a:r>
              <a:t>Cost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2423160"/>
          <a:ext cx="56692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834640"/>
              </a:tblGrid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Current Reality</a:t>
                      </a:r>
                    </a:p>
                  </a:txBody>
                  <a:tcPr marL="73152" marR="73152" marT="36576" marB="36576">
                    <a:solidFill>
                      <a:srgbClr val="343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With YuvaSetu</a:t>
                      </a:r>
                    </a:p>
                  </a:txBody>
                  <a:tcPr marL="73152" marR="73152" marT="36576" marB="36576">
                    <a:solidFill>
                      <a:srgbClr val="34343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Coaching: Rs 5,000-50,000/session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Rs 0 (local AI)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English-only platforms</a:t>
                      </a:r>
                    </a:p>
                  </a:txBody>
                  <a:tcPr marL="73152" marR="73152" marT="36576" marB="36576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Hindi + Marathi + English</a:t>
                      </a:r>
                    </a:p>
                  </a:txBody>
                  <a:tcPr marL="73152" marR="73152" marT="36576" marB="36576">
                    <a:solidFill>
                      <a:srgbClr val="F1F3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No interview feedback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5-category scored analysis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Blind job applications</a:t>
                      </a:r>
                    </a:p>
                  </a:txBody>
                  <a:tcPr marL="73152" marR="73152" marT="36576" marB="36576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AI-matched with % breakdown</a:t>
                      </a:r>
                    </a:p>
                  </a:txBody>
                  <a:tcPr marL="73152" marR="73152" marT="36576" marB="36576">
                    <a:solidFill>
                      <a:srgbClr val="F1F3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Google search for courses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237 verified govt course links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No cheating detection</a:t>
                      </a:r>
                    </a:p>
                  </a:txBody>
                  <a:tcPr marL="73152" marR="73152" marT="36576" marB="36576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AI proctoring (face + gaze + tab)</a:t>
                      </a:r>
                    </a:p>
                  </a:txBody>
                  <a:tcPr marL="73152" marR="73152" marT="36576" marB="36576">
                    <a:solidFill>
                      <a:srgbClr val="F1F3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88% talent rejected by ATS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Semantic matching finds them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309360" y="2423160"/>
            <a:ext cx="5486400" cy="320040"/>
          </a:xfrm>
          <a:prstGeom prst="roundRect">
            <a:avLst/>
          </a:prstGeom>
          <a:solidFill>
            <a:srgbClr val="228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  Live Demo Script (5 minutes)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309360" y="2788920"/>
          <a:ext cx="54864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1463040"/>
                <a:gridCol w="3383280"/>
              </a:tblGrid>
              <a:tr h="2844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Time</a:t>
                      </a:r>
                    </a:p>
                  </a:txBody>
                  <a:tcPr marL="73152" marR="73152" marT="36576" marB="36576">
                    <a:solidFill>
                      <a:srgbClr val="228B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Action</a:t>
                      </a:r>
                    </a:p>
                  </a:txBody>
                  <a:tcPr marL="73152" marR="73152" marT="36576" marB="36576">
                    <a:solidFill>
                      <a:srgbClr val="228B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What Judges See</a:t>
                      </a:r>
                    </a:p>
                  </a:txBody>
                  <a:tcPr marL="73152" marR="73152" marT="36576" marB="36576">
                    <a:solidFill>
                      <a:srgbClr val="228BE6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0:00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Upload resume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AI parses in 3s, 95% confidence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1:00</a:t>
                      </a:r>
                    </a:p>
                  </a:txBody>
                  <a:tcPr marL="73152" marR="73152" marT="36576" marB="36576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Job matches</a:t>
                      </a:r>
                    </a:p>
                  </a:txBody>
                  <a:tcPr marL="73152" marR="73152" marT="36576" marB="36576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Top jobs with % breakdown</a:t>
                      </a:r>
                    </a:p>
                  </a:txBody>
                  <a:tcPr marL="73152" marR="73152" marT="36576" marB="36576">
                    <a:solidFill>
                      <a:srgbClr val="F1F3F5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2:00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Skill gap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Missing skills + NPTEL courses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3:00</a:t>
                      </a:r>
                    </a:p>
                  </a:txBody>
                  <a:tcPr marL="73152" marR="73152" marT="36576" marB="36576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Hindi interview</a:t>
                      </a:r>
                    </a:p>
                  </a:txBody>
                  <a:tcPr marL="73152" marR="73152" marT="36576" marB="36576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AI voice conversation</a:t>
                      </a:r>
                    </a:p>
                  </a:txBody>
                  <a:tcPr marL="73152" marR="73152" marT="36576" marB="36576">
                    <a:solidFill>
                      <a:srgbClr val="F1F3F5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3:30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Trigger proctor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Look away → warning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4:00</a:t>
                      </a:r>
                    </a:p>
                  </a:txBody>
                  <a:tcPr marL="73152" marR="73152" marT="36576" marB="36576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End interview</a:t>
                      </a:r>
                    </a:p>
                  </a:txBody>
                  <a:tcPr marL="73152" marR="73152" marT="36576" marB="36576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5-cat feedback in Hindi</a:t>
                      </a:r>
                    </a:p>
                  </a:txBody>
                  <a:tcPr marL="73152" marR="73152" marT="36576" marB="36576">
                    <a:solidFill>
                      <a:srgbClr val="F1F3F5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4:30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Employer view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AI-ranked candidates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5:00</a:t>
                      </a:r>
                    </a:p>
                  </a:txBody>
                  <a:tcPr marL="73152" marR="73152" marT="36576" marB="36576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Close</a:t>
                      </a:r>
                    </a:p>
                  </a:txBody>
                  <a:tcPr marL="73152" marR="73152" marT="36576" marB="36576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Impact statement</a:t>
                      </a:r>
                    </a:p>
                  </a:txBody>
                  <a:tcPr marL="73152" marR="73152" marT="36576" marB="36576">
                    <a:solidFill>
                      <a:srgbClr val="F1F3F5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365760" y="5623560"/>
            <a:ext cx="11430000" cy="731520"/>
          </a:xfrm>
          <a:prstGeom prst="roundRect">
            <a:avLst/>
          </a:prstGeom>
          <a:solidFill>
            <a:srgbClr val="228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91440" wrap="square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"No other platform lets you talk to an AI interviewer in Hindi while it monitors you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1300" b="1">
                <a:solidFill>
                  <a:srgbClr val="CCDDFF"/>
                </a:solidFill>
                <a:latin typeface="Segoe UI"/>
              </a:defRPr>
            </a:pPr>
            <a:r>
              <a:t>with face detection and recommends free government courses — all for Rs 5/day."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